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Flows left unusable</c:v>
                </c:pt>
              </c:strCache>
            </c:strRef>
          </c:tx>
          <c:dPt>
            <c:idx val="0"/>
            <c:spPr>
              <a:solidFill>
                <a:srgbClr val="6250D6"/>
              </a:solidFill>
            </c:spPr>
          </c:dPt>
          <c:dPt>
            <c:idx val="1"/>
            <c:spPr>
              <a:solidFill>
                <a:srgbClr val="A99FEA"/>
              </a:solidFill>
            </c:spPr>
          </c:dPt>
          <c:dPt>
            <c:idx val="2"/>
            <c:spPr>
              <a:solidFill>
                <a:srgbClr val="E0612A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dPt>
            <c:idx val="4"/>
            <c:spPr>
              <a:solidFill>
                <a:srgbClr val="A7ACB3"/>
              </a:solidFill>
            </c:spPr>
          </c:dPt>
          <c:cat>
            <c:strRef>
              <c:f>Sheet1!$A$2:$A$6</c:f>
              <c:strCache>
                <c:ptCount val="5"/>
                <c:pt idx="0">
                  <c:v>Ours, full system</c:v>
                </c:pt>
                <c:pt idx="1">
                  <c:v>Ours, simple rule</c:v>
                </c:pt>
                <c:pt idx="2">
                  <c:v>Threshold rules</c:v>
                </c:pt>
                <c:pt idx="3">
                  <c:v>Plain CAKE</c:v>
                </c:pt>
                <c:pt idx="4">
                  <c:v>No QoS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</c:v>
                </c:pt>
                <c:pt idx="1">
                  <c:v>1.65</c:v>
                </c:pt>
                <c:pt idx="2">
                  <c:v>6.91</c:v>
                </c:pt>
                <c:pt idx="3">
                  <c:v>5.58</c:v>
                </c:pt>
                <c:pt idx="4">
                  <c:v>12.31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 b="1">
                  <a:solidFill>
                    <a:srgbClr val="14213D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4213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523741693800417"/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6606E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660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Plain CAKE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Sheet1!$B$2:$B$201</c:f>
              <c:numCache>
                <c:formatCode>General</c:formatCode>
                <c:ptCount val="200"/>
                <c:pt idx="0">
                  <c:v>3.3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90.0</c:v>
                </c:pt>
                <c:pt idx="31">
                  <c:v>100.0</c:v>
                </c:pt>
                <c:pt idx="32">
                  <c:v>100.0</c:v>
                </c:pt>
                <c:pt idx="33">
                  <c:v>100.0</c:v>
                </c:pt>
                <c:pt idx="34">
                  <c:v>100.0</c:v>
                </c:pt>
                <c:pt idx="35">
                  <c:v>100.0</c:v>
                </c:pt>
                <c:pt idx="36">
                  <c:v>100.0</c:v>
                </c:pt>
                <c:pt idx="37">
                  <c:v>100.0</c:v>
                </c:pt>
                <c:pt idx="38">
                  <c:v>100.0</c:v>
                </c:pt>
                <c:pt idx="39">
                  <c:v>100.0</c:v>
                </c:pt>
                <c:pt idx="40">
                  <c:v>100.0</c:v>
                </c:pt>
                <c:pt idx="41">
                  <c:v>100.0</c:v>
                </c:pt>
                <c:pt idx="42">
                  <c:v>100.0</c:v>
                </c:pt>
                <c:pt idx="43">
                  <c:v>100.0</c:v>
                </c:pt>
                <c:pt idx="44">
                  <c:v>100.0</c:v>
                </c:pt>
                <c:pt idx="45">
                  <c:v>100.0</c:v>
                </c:pt>
                <c:pt idx="46">
                  <c:v>100.0</c:v>
                </c:pt>
                <c:pt idx="47">
                  <c:v>100.0</c:v>
                </c:pt>
                <c:pt idx="48">
                  <c:v>100.0</c:v>
                </c:pt>
                <c:pt idx="49">
                  <c:v>100.0</c:v>
                </c:pt>
                <c:pt idx="50">
                  <c:v>100.0</c:v>
                </c:pt>
                <c:pt idx="51">
                  <c:v>100.0</c:v>
                </c:pt>
                <c:pt idx="52">
                  <c:v>100.0</c:v>
                </c:pt>
                <c:pt idx="53">
                  <c:v>100.0</c:v>
                </c:pt>
                <c:pt idx="54">
                  <c:v>100.0</c:v>
                </c:pt>
                <c:pt idx="55">
                  <c:v>100.0</c:v>
                </c:pt>
                <c:pt idx="56">
                  <c:v>100.0</c:v>
                </c:pt>
                <c:pt idx="57">
                  <c:v>100.0</c:v>
                </c:pt>
                <c:pt idx="58">
                  <c:v>100.0</c:v>
                </c:pt>
                <c:pt idx="59">
                  <c:v>100.0</c:v>
                </c:pt>
                <c:pt idx="60">
                  <c:v>100.0</c:v>
                </c:pt>
                <c:pt idx="61">
                  <c:v>100.0</c:v>
                </c:pt>
                <c:pt idx="62">
                  <c:v>100.0</c:v>
                </c:pt>
                <c:pt idx="63">
                  <c:v>100.0</c:v>
                </c:pt>
                <c:pt idx="64">
                  <c:v>100.0</c:v>
                </c:pt>
                <c:pt idx="65">
                  <c:v>100.0</c:v>
                </c:pt>
                <c:pt idx="66">
                  <c:v>100.0</c:v>
                </c:pt>
                <c:pt idx="67">
                  <c:v>100.0</c:v>
                </c:pt>
                <c:pt idx="68">
                  <c:v>100.0</c:v>
                </c:pt>
                <c:pt idx="69">
                  <c:v>100.0</c:v>
                </c:pt>
                <c:pt idx="70">
                  <c:v>100.0</c:v>
                </c:pt>
                <c:pt idx="71">
                  <c:v>100.0</c:v>
                </c:pt>
                <c:pt idx="72">
                  <c:v>100.0</c:v>
                </c:pt>
                <c:pt idx="73">
                  <c:v>100.0</c:v>
                </c:pt>
                <c:pt idx="74">
                  <c:v>100.0</c:v>
                </c:pt>
                <c:pt idx="75">
                  <c:v>100.0</c:v>
                </c:pt>
                <c:pt idx="76">
                  <c:v>100.0</c:v>
                </c:pt>
                <c:pt idx="77">
                  <c:v>100.0</c:v>
                </c:pt>
                <c:pt idx="78">
                  <c:v>100.0</c:v>
                </c:pt>
                <c:pt idx="79">
                  <c:v>100.0</c:v>
                </c:pt>
                <c:pt idx="80">
                  <c:v>100.0</c:v>
                </c:pt>
                <c:pt idx="81">
                  <c:v>100.0</c:v>
                </c:pt>
                <c:pt idx="82">
                  <c:v>100.0</c:v>
                </c:pt>
                <c:pt idx="83">
                  <c:v>100.0</c:v>
                </c:pt>
                <c:pt idx="84">
                  <c:v>100.0</c:v>
                </c:pt>
                <c:pt idx="85">
                  <c:v>100.0</c:v>
                </c:pt>
                <c:pt idx="86">
                  <c:v>100.0</c:v>
                </c:pt>
                <c:pt idx="87">
                  <c:v>100.0</c:v>
                </c:pt>
                <c:pt idx="88">
                  <c:v>100.0</c:v>
                </c:pt>
                <c:pt idx="89">
                  <c:v>100.0</c:v>
                </c:pt>
                <c:pt idx="90">
                  <c:v>100.0</c:v>
                </c:pt>
                <c:pt idx="91">
                  <c:v>100.0</c:v>
                </c:pt>
                <c:pt idx="92">
                  <c:v>100.0</c:v>
                </c:pt>
                <c:pt idx="93">
                  <c:v>100.0</c:v>
                </c:pt>
                <c:pt idx="94">
                  <c:v>100.0</c:v>
                </c:pt>
                <c:pt idx="95">
                  <c:v>100.0</c:v>
                </c:pt>
                <c:pt idx="96">
                  <c:v>100.0</c:v>
                </c:pt>
                <c:pt idx="97">
                  <c:v>100.0</c:v>
                </c:pt>
                <c:pt idx="98">
                  <c:v>100.0</c:v>
                </c:pt>
                <c:pt idx="99">
                  <c:v>100.0</c:v>
                </c:pt>
                <c:pt idx="100">
                  <c:v>100.0</c:v>
                </c:pt>
                <c:pt idx="101">
                  <c:v>100.0</c:v>
                </c:pt>
                <c:pt idx="102">
                  <c:v>100.0</c:v>
                </c:pt>
                <c:pt idx="103">
                  <c:v>100.0</c:v>
                </c:pt>
                <c:pt idx="104">
                  <c:v>100.0</c:v>
                </c:pt>
                <c:pt idx="105">
                  <c:v>100.0</c:v>
                </c:pt>
                <c:pt idx="106">
                  <c:v>100.0</c:v>
                </c:pt>
                <c:pt idx="107">
                  <c:v>100.0</c:v>
                </c:pt>
                <c:pt idx="108">
                  <c:v>100.0</c:v>
                </c:pt>
                <c:pt idx="109">
                  <c:v>100.0</c:v>
                </c:pt>
                <c:pt idx="110">
                  <c:v>100.0</c:v>
                </c:pt>
                <c:pt idx="111">
                  <c:v>100.0</c:v>
                </c:pt>
                <c:pt idx="112">
                  <c:v>100.0</c:v>
                </c:pt>
                <c:pt idx="113">
                  <c:v>100.0</c:v>
                </c:pt>
                <c:pt idx="114">
                  <c:v>100.0</c:v>
                </c:pt>
                <c:pt idx="115">
                  <c:v>100.0</c:v>
                </c:pt>
                <c:pt idx="116">
                  <c:v>100.0</c:v>
                </c:pt>
                <c:pt idx="117">
                  <c:v>100.0</c:v>
                </c:pt>
                <c:pt idx="118">
                  <c:v>100.0</c:v>
                </c:pt>
                <c:pt idx="119">
                  <c:v>100.0</c:v>
                </c:pt>
                <c:pt idx="120">
                  <c:v>100.0</c:v>
                </c:pt>
                <c:pt idx="121">
                  <c:v>100.0</c:v>
                </c:pt>
                <c:pt idx="122">
                  <c:v>100.0</c:v>
                </c:pt>
                <c:pt idx="123">
                  <c:v>100.0</c:v>
                </c:pt>
                <c:pt idx="124">
                  <c:v>100.0</c:v>
                </c:pt>
                <c:pt idx="125">
                  <c:v>100.0</c:v>
                </c:pt>
                <c:pt idx="126">
                  <c:v>100.0</c:v>
                </c:pt>
                <c:pt idx="127">
                  <c:v>100.0</c:v>
                </c:pt>
                <c:pt idx="128">
                  <c:v>100.0</c:v>
                </c:pt>
                <c:pt idx="129">
                  <c:v>100.0</c:v>
                </c:pt>
                <c:pt idx="130">
                  <c:v>100.0</c:v>
                </c:pt>
                <c:pt idx="131">
                  <c:v>100.0</c:v>
                </c:pt>
                <c:pt idx="132">
                  <c:v>100.0</c:v>
                </c:pt>
                <c:pt idx="133">
                  <c:v>100.0</c:v>
                </c:pt>
                <c:pt idx="134">
                  <c:v>100.0</c:v>
                </c:pt>
                <c:pt idx="135">
                  <c:v>100.0</c:v>
                </c:pt>
                <c:pt idx="136">
                  <c:v>100.0</c:v>
                </c:pt>
                <c:pt idx="137">
                  <c:v>100.0</c:v>
                </c:pt>
                <c:pt idx="138">
                  <c:v>100.0</c:v>
                </c:pt>
                <c:pt idx="139">
                  <c:v>100.0</c:v>
                </c:pt>
                <c:pt idx="140">
                  <c:v>100.0</c:v>
                </c:pt>
                <c:pt idx="141">
                  <c:v>90.0</c:v>
                </c:pt>
                <c:pt idx="142">
                  <c:v>100.0</c:v>
                </c:pt>
                <c:pt idx="143">
                  <c:v>100.0</c:v>
                </c:pt>
                <c:pt idx="144">
                  <c:v>100.0</c:v>
                </c:pt>
                <c:pt idx="145">
                  <c:v>100.0</c:v>
                </c:pt>
                <c:pt idx="146">
                  <c:v>100.0</c:v>
                </c:pt>
                <c:pt idx="147">
                  <c:v>100.0</c:v>
                </c:pt>
                <c:pt idx="148">
                  <c:v>100.0</c:v>
                </c:pt>
                <c:pt idx="149">
                  <c:v>100.0</c:v>
                </c:pt>
                <c:pt idx="150">
                  <c:v>100.0</c:v>
                </c:pt>
                <c:pt idx="151">
                  <c:v>100.0</c:v>
                </c:pt>
                <c:pt idx="152">
                  <c:v>100.0</c:v>
                </c:pt>
                <c:pt idx="153">
                  <c:v>100.0</c:v>
                </c:pt>
                <c:pt idx="154">
                  <c:v>100.0</c:v>
                </c:pt>
                <c:pt idx="155">
                  <c:v>100.0</c:v>
                </c:pt>
                <c:pt idx="156">
                  <c:v>100.0</c:v>
                </c:pt>
                <c:pt idx="157">
                  <c:v>100.0</c:v>
                </c:pt>
                <c:pt idx="158">
                  <c:v>100.0</c:v>
                </c:pt>
                <c:pt idx="159">
                  <c:v>100.0</c:v>
                </c:pt>
                <c:pt idx="160">
                  <c:v>100.0</c:v>
                </c:pt>
                <c:pt idx="161">
                  <c:v>100.0</c:v>
                </c:pt>
                <c:pt idx="162">
                  <c:v>100.0</c:v>
                </c:pt>
                <c:pt idx="163">
                  <c:v>100.0</c:v>
                </c:pt>
                <c:pt idx="164">
                  <c:v>100.0</c:v>
                </c:pt>
                <c:pt idx="165">
                  <c:v>100.0</c:v>
                </c:pt>
                <c:pt idx="166">
                  <c:v>100.0</c:v>
                </c:pt>
                <c:pt idx="167">
                  <c:v>100.0</c:v>
                </c:pt>
                <c:pt idx="168">
                  <c:v>100.0</c:v>
                </c:pt>
                <c:pt idx="169">
                  <c:v>100.0</c:v>
                </c:pt>
                <c:pt idx="170">
                  <c:v>100.0</c:v>
                </c:pt>
                <c:pt idx="171">
                  <c:v>100.0</c:v>
                </c:pt>
                <c:pt idx="172">
                  <c:v>100.0</c:v>
                </c:pt>
                <c:pt idx="173">
                  <c:v>100.0</c:v>
                </c:pt>
                <c:pt idx="174">
                  <c:v>100.0</c:v>
                </c:pt>
                <c:pt idx="175">
                  <c:v>100.0</c:v>
                </c:pt>
                <c:pt idx="176">
                  <c:v>100.0</c:v>
                </c:pt>
                <c:pt idx="177">
                  <c:v>100.0</c:v>
                </c:pt>
                <c:pt idx="178">
                  <c:v>100.0</c:v>
                </c:pt>
                <c:pt idx="179">
                  <c:v>100.0</c:v>
                </c:pt>
                <c:pt idx="180">
                  <c:v>100.0</c:v>
                </c:pt>
                <c:pt idx="181">
                  <c:v>100.0</c:v>
                </c:pt>
                <c:pt idx="182">
                  <c:v>100.0</c:v>
                </c:pt>
                <c:pt idx="183">
                  <c:v>100.0</c:v>
                </c:pt>
                <c:pt idx="184">
                  <c:v>100.0</c:v>
                </c:pt>
                <c:pt idx="185">
                  <c:v>100.0</c:v>
                </c:pt>
                <c:pt idx="186">
                  <c:v>100.0</c:v>
                </c:pt>
                <c:pt idx="187">
                  <c:v>100.0</c:v>
                </c:pt>
                <c:pt idx="188">
                  <c:v>100.0</c:v>
                </c:pt>
                <c:pt idx="189">
                  <c:v>100.0</c:v>
                </c:pt>
                <c:pt idx="190">
                  <c:v>100.0</c:v>
                </c:pt>
                <c:pt idx="191">
                  <c:v>100.0</c:v>
                </c:pt>
                <c:pt idx="192">
                  <c:v>93.3</c:v>
                </c:pt>
                <c:pt idx="193">
                  <c:v>100.0</c:v>
                </c:pt>
                <c:pt idx="194">
                  <c:v>100.0</c:v>
                </c:pt>
                <c:pt idx="195">
                  <c:v>100.0</c:v>
                </c:pt>
                <c:pt idx="196">
                  <c:v>100.0</c:v>
                </c:pt>
                <c:pt idx="197">
                  <c:v>100.0</c:v>
                </c:pt>
                <c:pt idx="198">
                  <c:v>100.0</c:v>
                </c:pt>
                <c:pt idx="199">
                  <c:v>100.0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Sheet1!$B$203</c:f>
              <c:strCache>
                <c:ptCount val="1"/>
                <c:pt idx="0">
                  <c:v>Ours</c:v>
                </c:pt>
              </c:strCache>
            </c:strRef>
          </c:tx>
          <c:spPr>
            <a:ln w="28575">
              <a:solidFill>
                <a:srgbClr val="6250D6"/>
              </a:solidFill>
            </a:ln>
          </c:spPr>
          <c:marker>
            <c:symbol val="none"/>
          </c:marker>
          <c:xVal>
            <c:numRef>
              <c:f>Sheet1!$A$204:$A$403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Sheet1!$B$204:$B$403</c:f>
              <c:numCache>
                <c:formatCode>General</c:formatCode>
                <c:ptCount val="200"/>
                <c:pt idx="0">
                  <c:v>10.0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3.3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3.3</c:v>
                </c:pt>
                <c:pt idx="43">
                  <c:v>0.0</c:v>
                </c:pt>
                <c:pt idx="44">
                  <c:v>0.0</c:v>
                </c:pt>
                <c:pt idx="45">
                  <c:v>3.3</c:v>
                </c:pt>
                <c:pt idx="46">
                  <c:v>3.3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3.3</c:v>
                </c:pt>
                <c:pt idx="51">
                  <c:v>3.3</c:v>
                </c:pt>
                <c:pt idx="52">
                  <c:v>3.3</c:v>
                </c:pt>
                <c:pt idx="53">
                  <c:v>3.3</c:v>
                </c:pt>
                <c:pt idx="54">
                  <c:v>0.0</c:v>
                </c:pt>
                <c:pt idx="55">
                  <c:v>3.3</c:v>
                </c:pt>
                <c:pt idx="56">
                  <c:v>3.3</c:v>
                </c:pt>
                <c:pt idx="57">
                  <c:v>3.3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3.3</c:v>
                </c:pt>
                <c:pt idx="62">
                  <c:v>3.3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3.3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3.3</c:v>
                </c:pt>
                <c:pt idx="72">
                  <c:v>0.0</c:v>
                </c:pt>
                <c:pt idx="73">
                  <c:v>0.0</c:v>
                </c:pt>
                <c:pt idx="74">
                  <c:v>6.7</c:v>
                </c:pt>
                <c:pt idx="75">
                  <c:v>0.0</c:v>
                </c:pt>
                <c:pt idx="76">
                  <c:v>3.3</c:v>
                </c:pt>
                <c:pt idx="77">
                  <c:v>0.0</c:v>
                </c:pt>
                <c:pt idx="78">
                  <c:v>3.3</c:v>
                </c:pt>
                <c:pt idx="79">
                  <c:v>0.0</c:v>
                </c:pt>
                <c:pt idx="80">
                  <c:v>6.7</c:v>
                </c:pt>
                <c:pt idx="81">
                  <c:v>6.7</c:v>
                </c:pt>
                <c:pt idx="82">
                  <c:v>6.7</c:v>
                </c:pt>
                <c:pt idx="83">
                  <c:v>0.0</c:v>
                </c:pt>
                <c:pt idx="84">
                  <c:v>0.0</c:v>
                </c:pt>
                <c:pt idx="85">
                  <c:v>3.3</c:v>
                </c:pt>
                <c:pt idx="86">
                  <c:v>0.0</c:v>
                </c:pt>
                <c:pt idx="87">
                  <c:v>6.7</c:v>
                </c:pt>
                <c:pt idx="88">
                  <c:v>0.0</c:v>
                </c:pt>
                <c:pt idx="89">
                  <c:v>3.3</c:v>
                </c:pt>
                <c:pt idx="90">
                  <c:v>3.3</c:v>
                </c:pt>
                <c:pt idx="91">
                  <c:v>0.0</c:v>
                </c:pt>
                <c:pt idx="92">
                  <c:v>0.0</c:v>
                </c:pt>
                <c:pt idx="93">
                  <c:v>3.3</c:v>
                </c:pt>
                <c:pt idx="94">
                  <c:v>0.0</c:v>
                </c:pt>
                <c:pt idx="95">
                  <c:v>3.3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6.7</c:v>
                </c:pt>
                <c:pt idx="101">
                  <c:v>3.3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3.3</c:v>
                </c:pt>
                <c:pt idx="108">
                  <c:v>3.3</c:v>
                </c:pt>
                <c:pt idx="109">
                  <c:v>0.0</c:v>
                </c:pt>
                <c:pt idx="110">
                  <c:v>3.3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3.3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3.3</c:v>
                </c:pt>
                <c:pt idx="119">
                  <c:v>0.0</c:v>
                </c:pt>
                <c:pt idx="120">
                  <c:v>3.3</c:v>
                </c:pt>
                <c:pt idx="121">
                  <c:v>3.3</c:v>
                </c:pt>
                <c:pt idx="122">
                  <c:v>10.0</c:v>
                </c:pt>
                <c:pt idx="123">
                  <c:v>3.3</c:v>
                </c:pt>
                <c:pt idx="124">
                  <c:v>3.3</c:v>
                </c:pt>
                <c:pt idx="125">
                  <c:v>3.3</c:v>
                </c:pt>
                <c:pt idx="126">
                  <c:v>6.7</c:v>
                </c:pt>
                <c:pt idx="127">
                  <c:v>3.3</c:v>
                </c:pt>
                <c:pt idx="128">
                  <c:v>0.0</c:v>
                </c:pt>
                <c:pt idx="129">
                  <c:v>3.3</c:v>
                </c:pt>
                <c:pt idx="130">
                  <c:v>3.3</c:v>
                </c:pt>
                <c:pt idx="131">
                  <c:v>3.3</c:v>
                </c:pt>
                <c:pt idx="132">
                  <c:v>3.3</c:v>
                </c:pt>
                <c:pt idx="133">
                  <c:v>0.0</c:v>
                </c:pt>
                <c:pt idx="134">
                  <c:v>3.3</c:v>
                </c:pt>
                <c:pt idx="135">
                  <c:v>0.0</c:v>
                </c:pt>
                <c:pt idx="136">
                  <c:v>0.0</c:v>
                </c:pt>
                <c:pt idx="137">
                  <c:v>3.3</c:v>
                </c:pt>
                <c:pt idx="138">
                  <c:v>0.0</c:v>
                </c:pt>
                <c:pt idx="139">
                  <c:v>3.3</c:v>
                </c:pt>
                <c:pt idx="140">
                  <c:v>0.0</c:v>
                </c:pt>
                <c:pt idx="141">
                  <c:v>3.3</c:v>
                </c:pt>
                <c:pt idx="142">
                  <c:v>0.0</c:v>
                </c:pt>
                <c:pt idx="143">
                  <c:v>3.3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3.3</c:v>
                </c:pt>
                <c:pt idx="148">
                  <c:v>3.3</c:v>
                </c:pt>
                <c:pt idx="149">
                  <c:v>3.3</c:v>
                </c:pt>
                <c:pt idx="150">
                  <c:v>3.3</c:v>
                </c:pt>
                <c:pt idx="151">
                  <c:v>3.3</c:v>
                </c:pt>
                <c:pt idx="152">
                  <c:v>3.3</c:v>
                </c:pt>
                <c:pt idx="153">
                  <c:v>0.0</c:v>
                </c:pt>
                <c:pt idx="154">
                  <c:v>0.0</c:v>
                </c:pt>
                <c:pt idx="155">
                  <c:v>6.7</c:v>
                </c:pt>
                <c:pt idx="156">
                  <c:v>3.3</c:v>
                </c:pt>
                <c:pt idx="157">
                  <c:v>0.0</c:v>
                </c:pt>
                <c:pt idx="158">
                  <c:v>0.0</c:v>
                </c:pt>
                <c:pt idx="159">
                  <c:v>3.3</c:v>
                </c:pt>
                <c:pt idx="160">
                  <c:v>0.0</c:v>
                </c:pt>
                <c:pt idx="161">
                  <c:v>0.0</c:v>
                </c:pt>
                <c:pt idx="162">
                  <c:v>3.3</c:v>
                </c:pt>
                <c:pt idx="163">
                  <c:v>3.3</c:v>
                </c:pt>
                <c:pt idx="164">
                  <c:v>0.0</c:v>
                </c:pt>
                <c:pt idx="165">
                  <c:v>3.3</c:v>
                </c:pt>
                <c:pt idx="166">
                  <c:v>3.3</c:v>
                </c:pt>
                <c:pt idx="167">
                  <c:v>3.3</c:v>
                </c:pt>
                <c:pt idx="168">
                  <c:v>3.3</c:v>
                </c:pt>
                <c:pt idx="169">
                  <c:v>6.7</c:v>
                </c:pt>
                <c:pt idx="170">
                  <c:v>0.0</c:v>
                </c:pt>
                <c:pt idx="171">
                  <c:v>0.0</c:v>
                </c:pt>
                <c:pt idx="172">
                  <c:v>0.0</c:v>
                </c:pt>
                <c:pt idx="173">
                  <c:v>3.3</c:v>
                </c:pt>
                <c:pt idx="174">
                  <c:v>3.3</c:v>
                </c:pt>
                <c:pt idx="175">
                  <c:v>3.3</c:v>
                </c:pt>
                <c:pt idx="176">
                  <c:v>3.3</c:v>
                </c:pt>
                <c:pt idx="177">
                  <c:v>0.0</c:v>
                </c:pt>
                <c:pt idx="178">
                  <c:v>0.0</c:v>
                </c:pt>
                <c:pt idx="179">
                  <c:v>3.3</c:v>
                </c:pt>
                <c:pt idx="180">
                  <c:v>0.0</c:v>
                </c:pt>
                <c:pt idx="181">
                  <c:v>3.3</c:v>
                </c:pt>
                <c:pt idx="182">
                  <c:v>0.0</c:v>
                </c:pt>
                <c:pt idx="183">
                  <c:v>6.7</c:v>
                </c:pt>
                <c:pt idx="184">
                  <c:v>0.0</c:v>
                </c:pt>
                <c:pt idx="185">
                  <c:v>3.3</c:v>
                </c:pt>
                <c:pt idx="186">
                  <c:v>3.3</c:v>
                </c:pt>
                <c:pt idx="187">
                  <c:v>0.0</c:v>
                </c:pt>
                <c:pt idx="188">
                  <c:v>0.0</c:v>
                </c:pt>
                <c:pt idx="189">
                  <c:v>3.3</c:v>
                </c:pt>
                <c:pt idx="190">
                  <c:v>3.3</c:v>
                </c:pt>
                <c:pt idx="191">
                  <c:v>0.0</c:v>
                </c:pt>
                <c:pt idx="192">
                  <c:v>0.0</c:v>
                </c:pt>
                <c:pt idx="193">
                  <c:v>3.3</c:v>
                </c:pt>
                <c:pt idx="194">
                  <c:v>0.0</c:v>
                </c:pt>
                <c:pt idx="195">
                  <c:v>0.0</c:v>
                </c:pt>
                <c:pt idx="196">
                  <c:v>3.3</c:v>
                </c:pt>
                <c:pt idx="197">
                  <c:v>0.0</c:v>
                </c:pt>
                <c:pt idx="198">
                  <c:v>3.3</c:v>
                </c:pt>
                <c:pt idx="199">
                  <c:v>3.3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1.0"/>
          <c:min val="0.0"/>
        </c:scaling>
        <c:delete val="0"/>
        <c:axPos val="b"/>
        <c:numFmt formatCode="0&quot; s&quot;" sourceLinked="0"/>
        <c:majorTickMark val="out"/>
        <c:minorTickMark val="none"/>
        <c:tickLblPos val="low"/>
        <c:spPr>
          <a:ln>
            <a:solidFill>
              <a:srgbClr val="C9D1DC"/>
            </a:solidFill>
          </a:ln>
        </c:spPr>
        <c:txPr>
          <a:bodyPr/>
          <a:lstStyle/>
          <a:p>
            <a:pPr>
              <a:defRPr sz="900">
                <a:solidFill>
                  <a:srgbClr val="56606E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50.0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>
          <c:spPr>
            <a:ln w="6350">
              <a:solidFill>
                <a:srgbClr val="DCE3EC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6606E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.0"/>
      </c:valAx>
    </c:plotArea>
    <c:legend>
      <c:legendPos val="t"/>
      <c:layout/>
      <c:overlay val="0"/>
      <c:txPr>
        <a:bodyPr/>
        <a:lstStyle/>
        <a:p>
          <a:pPr>
            <a:defRPr sz="950">
              <a:solidFill>
                <a:srgbClr val="14213D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660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2" name="Wash"/>
          <p:cNvSpPr/>
          <p:nvPr/>
        </p:nvSpPr>
        <p:spPr>
          <a:xfrm>
            <a:off x="-204638" y="1625268"/>
            <a:ext cx="12835242" cy="2401098"/>
          </a:xfrm>
          <a:custGeom>
            <a:avLst/>
            <a:gdLst/>
            <a:ahLst/>
            <a:cxnLst/>
            <a:rect l="l" t="t" r="r" b="b"/>
            <a:pathLst>
              <a:path w="12835242" h="2401098">
                <a:moveTo>
                  <a:pt x="12835242" y="1163652"/>
                </a:moveTo>
                <a:lnTo>
                  <a:pt x="12806943" y="1260200"/>
                </a:lnTo>
                <a:lnTo>
                  <a:pt x="12699085" y="1354597"/>
                </a:lnTo>
                <a:lnTo>
                  <a:pt x="12521000" y="1444699"/>
                </a:lnTo>
                <a:lnTo>
                  <a:pt x="12286632" y="1529047"/>
                </a:lnTo>
                <a:lnTo>
                  <a:pt x="12012575" y="1607050"/>
                </a:lnTo>
                <a:lnTo>
                  <a:pt x="11715806" y="1679015"/>
                </a:lnTo>
                <a:lnTo>
                  <a:pt x="11411443" y="1746016"/>
                </a:lnTo>
                <a:lnTo>
                  <a:pt x="11110896" y="1809637"/>
                </a:lnTo>
                <a:lnTo>
                  <a:pt x="10820670" y="1871615"/>
                </a:lnTo>
                <a:lnTo>
                  <a:pt x="10541991" y="1933463"/>
                </a:lnTo>
                <a:lnTo>
                  <a:pt x="10271271" y="1996125"/>
                </a:lnTo>
                <a:lnTo>
                  <a:pt x="10001321" y="2059732"/>
                </a:lnTo>
                <a:lnTo>
                  <a:pt x="9723060" y="2123502"/>
                </a:lnTo>
                <a:lnTo>
                  <a:pt x="9427429" y="2185799"/>
                </a:lnTo>
                <a:lnTo>
                  <a:pt x="9107171" y="2244347"/>
                </a:lnTo>
                <a:lnTo>
                  <a:pt x="8758185" y="2296560"/>
                </a:lnTo>
                <a:lnTo>
                  <a:pt x="8380251" y="2339941"/>
                </a:lnTo>
                <a:lnTo>
                  <a:pt x="7977001" y="2372470"/>
                </a:lnTo>
                <a:lnTo>
                  <a:pt x="7555209" y="2392929"/>
                </a:lnTo>
                <a:lnTo>
                  <a:pt x="7123530" y="2401098"/>
                </a:lnTo>
                <a:lnTo>
                  <a:pt x="6690954" y="2397797"/>
                </a:lnTo>
                <a:lnTo>
                  <a:pt x="6265269" y="2384754"/>
                </a:lnTo>
                <a:lnTo>
                  <a:pt x="5851812" y="2364338"/>
                </a:lnTo>
                <a:lnTo>
                  <a:pt x="5452758" y="2339184"/>
                </a:lnTo>
                <a:lnTo>
                  <a:pt x="5067057" y="2311785"/>
                </a:lnTo>
                <a:lnTo>
                  <a:pt x="4691028" y="2284111"/>
                </a:lnTo>
                <a:lnTo>
                  <a:pt x="4319505" y="2257322"/>
                </a:lnTo>
                <a:lnTo>
                  <a:pt x="3947301" y="2231621"/>
                </a:lnTo>
                <a:lnTo>
                  <a:pt x="3570711" y="2206267"/>
                </a:lnTo>
                <a:lnTo>
                  <a:pt x="3188767" y="2179746"/>
                </a:lnTo>
                <a:lnTo>
                  <a:pt x="2803995" y="2150067"/>
                </a:lnTo>
                <a:lnTo>
                  <a:pt x="2422501" y="2115133"/>
                </a:lnTo>
                <a:lnTo>
                  <a:pt x="2053357" y="2073116"/>
                </a:lnTo>
                <a:lnTo>
                  <a:pt x="1707367" y="2022783"/>
                </a:lnTo>
                <a:lnTo>
                  <a:pt x="1395413" y="1963704"/>
                </a:lnTo>
                <a:lnTo>
                  <a:pt x="1126674" y="1896322"/>
                </a:lnTo>
                <a:lnTo>
                  <a:pt x="907016" y="1821867"/>
                </a:lnTo>
                <a:lnTo>
                  <a:pt x="737875" y="1742131"/>
                </a:lnTo>
                <a:lnTo>
                  <a:pt x="615819" y="1659159"/>
                </a:lnTo>
                <a:lnTo>
                  <a:pt x="532925" y="1574895"/>
                </a:lnTo>
                <a:lnTo>
                  <a:pt x="477918" y="1490867"/>
                </a:lnTo>
                <a:lnTo>
                  <a:pt x="437920" y="1407946"/>
                </a:lnTo>
                <a:lnTo>
                  <a:pt x="400536" y="1326252"/>
                </a:lnTo>
                <a:lnTo>
                  <a:pt x="355939" y="1245192"/>
                </a:lnTo>
                <a:lnTo>
                  <a:pt x="298617" y="1163652"/>
                </a:lnTo>
                <a:lnTo>
                  <a:pt x="228485" y="1080288"/>
                </a:lnTo>
                <a:lnTo>
                  <a:pt x="151173" y="993883"/>
                </a:lnTo>
                <a:lnTo>
                  <a:pt x="77415" y="903683"/>
                </a:lnTo>
                <a:lnTo>
                  <a:pt x="21648" y="809675"/>
                </a:lnTo>
                <a:lnTo>
                  <a:pt x="0" y="712732"/>
                </a:lnTo>
                <a:lnTo>
                  <a:pt x="28007" y="614612"/>
                </a:lnTo>
                <a:lnTo>
                  <a:pt x="118389" y="517798"/>
                </a:lnTo>
                <a:lnTo>
                  <a:pt x="279249" y="425199"/>
                </a:lnTo>
                <a:lnTo>
                  <a:pt x="512950" y="339775"/>
                </a:lnTo>
                <a:lnTo>
                  <a:pt x="815844" y="264126"/>
                </a:lnTo>
                <a:lnTo>
                  <a:pt x="1178868" y="200127"/>
                </a:lnTo>
                <a:lnTo>
                  <a:pt x="1588890" y="148674"/>
                </a:lnTo>
                <a:lnTo>
                  <a:pt x="2030579" y="109562"/>
                </a:lnTo>
                <a:lnTo>
                  <a:pt x="2488473" y="81553"/>
                </a:lnTo>
                <a:lnTo>
                  <a:pt x="2948920" y="62583"/>
                </a:lnTo>
                <a:lnTo>
                  <a:pt x="3401585" y="50108"/>
                </a:lnTo>
                <a:lnTo>
                  <a:pt x="3840301" y="41511"/>
                </a:lnTo>
                <a:lnTo>
                  <a:pt x="4263169" y="34515"/>
                </a:lnTo>
                <a:lnTo>
                  <a:pt x="4671939" y="27531"/>
                </a:lnTo>
                <a:lnTo>
                  <a:pt x="5070815" y="19877"/>
                </a:lnTo>
                <a:lnTo>
                  <a:pt x="5464951" y="11848"/>
                </a:lnTo>
                <a:lnTo>
                  <a:pt x="5858923" y="4619"/>
                </a:lnTo>
                <a:lnTo>
                  <a:pt x="6255460" y="0"/>
                </a:lnTo>
                <a:lnTo>
                  <a:pt x="6654686" y="89"/>
                </a:lnTo>
                <a:lnTo>
                  <a:pt x="7053978" y="6887"/>
                </a:lnTo>
                <a:lnTo>
                  <a:pt x="7448479" y="21934"/>
                </a:lnTo>
                <a:lnTo>
                  <a:pt x="7832120" y="46039"/>
                </a:lnTo>
                <a:lnTo>
                  <a:pt x="8198975" y="79136"/>
                </a:lnTo>
                <a:lnTo>
                  <a:pt x="8544630" y="120304"/>
                </a:lnTo>
                <a:lnTo>
                  <a:pt x="8867324" y="167929"/>
                </a:lnTo>
                <a:lnTo>
                  <a:pt x="9168583" y="219999"/>
                </a:lnTo>
                <a:lnTo>
                  <a:pt x="9453209" y="274450"/>
                </a:lnTo>
                <a:lnTo>
                  <a:pt x="9728583" y="329529"/>
                </a:lnTo>
                <a:lnTo>
                  <a:pt x="10003367" y="384096"/>
                </a:lnTo>
                <a:lnTo>
                  <a:pt x="10285824" y="437807"/>
                </a:lnTo>
                <a:lnTo>
                  <a:pt x="10582026" y="491153"/>
                </a:lnTo>
                <a:lnTo>
                  <a:pt x="10894272" y="545354"/>
                </a:lnTo>
                <a:lnTo>
                  <a:pt x="11220020" y="602106"/>
                </a:lnTo>
                <a:lnTo>
                  <a:pt x="11551534" y="663249"/>
                </a:lnTo>
                <a:lnTo>
                  <a:pt x="11876362" y="730394"/>
                </a:lnTo>
                <a:lnTo>
                  <a:pt x="12178597" y="804593"/>
                </a:lnTo>
                <a:lnTo>
                  <a:pt x="12440768" y="886093"/>
                </a:lnTo>
                <a:lnTo>
                  <a:pt x="12646068" y="974230"/>
                </a:lnTo>
                <a:lnTo>
                  <a:pt x="12780596" y="1067480"/>
                </a:lnTo>
                <a:close/>
              </a:path>
            </a:pathLst>
          </a:cu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sh yellow"/>
          <p:cNvSpPr/>
          <p:nvPr/>
        </p:nvSpPr>
        <p:spPr>
          <a:xfrm>
            <a:off x="10126414" y="1095120"/>
            <a:ext cx="2549096" cy="1316084"/>
          </a:xfrm>
          <a:custGeom>
            <a:avLst/>
            <a:gdLst/>
            <a:ahLst/>
            <a:cxnLst/>
            <a:rect l="l" t="t" r="r" b="b"/>
            <a:pathLst>
              <a:path w="2549096" h="1316084">
                <a:moveTo>
                  <a:pt x="2549096" y="642240"/>
                </a:moveTo>
                <a:lnTo>
                  <a:pt x="2545856" y="696045"/>
                </a:lnTo>
                <a:lnTo>
                  <a:pt x="2528848" y="748999"/>
                </a:lnTo>
                <a:lnTo>
                  <a:pt x="2499360" y="800089"/>
                </a:lnTo>
                <a:lnTo>
                  <a:pt x="2459327" y="848561"/>
                </a:lnTo>
                <a:lnTo>
                  <a:pt x="2411078" y="893995"/>
                </a:lnTo>
                <a:lnTo>
                  <a:pt x="2357048" y="936322"/>
                </a:lnTo>
                <a:lnTo>
                  <a:pt x="2299478" y="975785"/>
                </a:lnTo>
                <a:lnTo>
                  <a:pt x="2240178" y="1012847"/>
                </a:lnTo>
                <a:lnTo>
                  <a:pt x="2180355" y="1048073"/>
                </a:lnTo>
                <a:lnTo>
                  <a:pt x="2120550" y="1081995"/>
                </a:lnTo>
                <a:lnTo>
                  <a:pt x="2060679" y="1114982"/>
                </a:lnTo>
                <a:lnTo>
                  <a:pt x="2000165" y="1147154"/>
                </a:lnTo>
                <a:lnTo>
                  <a:pt x="1938137" y="1178332"/>
                </a:lnTo>
                <a:lnTo>
                  <a:pt x="1873658" y="1208047"/>
                </a:lnTo>
                <a:lnTo>
                  <a:pt x="1805947" y="1235602"/>
                </a:lnTo>
                <a:lnTo>
                  <a:pt x="1734548" y="1260173"/>
                </a:lnTo>
                <a:lnTo>
                  <a:pt x="1659434" y="1280938"/>
                </a:lnTo>
                <a:lnTo>
                  <a:pt x="1581019" y="1297207"/>
                </a:lnTo>
                <a:lnTo>
                  <a:pt x="1500094" y="1308527"/>
                </a:lnTo>
                <a:lnTo>
                  <a:pt x="1417689" y="1314757"/>
                </a:lnTo>
                <a:lnTo>
                  <a:pt x="1334907" y="1316084"/>
                </a:lnTo>
                <a:lnTo>
                  <a:pt x="1252746" y="1312995"/>
                </a:lnTo>
                <a:lnTo>
                  <a:pt x="1171957" y="1306187"/>
                </a:lnTo>
                <a:lnTo>
                  <a:pt x="1092959" y="1296463"/>
                </a:lnTo>
                <a:lnTo>
                  <a:pt x="1015820" y="1284596"/>
                </a:lnTo>
                <a:lnTo>
                  <a:pt x="940322" y="1271214"/>
                </a:lnTo>
                <a:lnTo>
                  <a:pt x="866081" y="1256706"/>
                </a:lnTo>
                <a:lnTo>
                  <a:pt x="792703" y="1241176"/>
                </a:lnTo>
                <a:lnTo>
                  <a:pt x="719946" y="1224446"/>
                </a:lnTo>
                <a:lnTo>
                  <a:pt x="647859" y="1206109"/>
                </a:lnTo>
                <a:lnTo>
                  <a:pt x="576855" y="1185619"/>
                </a:lnTo>
                <a:lnTo>
                  <a:pt x="507716" y="1162410"/>
                </a:lnTo>
                <a:lnTo>
                  <a:pt x="441521" y="1136008"/>
                </a:lnTo>
                <a:lnTo>
                  <a:pt x="379497" y="1106131"/>
                </a:lnTo>
                <a:lnTo>
                  <a:pt x="322840" y="1072749"/>
                </a:lnTo>
                <a:lnTo>
                  <a:pt x="272508" y="1036097"/>
                </a:lnTo>
                <a:lnTo>
                  <a:pt x="229059" y="996644"/>
                </a:lnTo>
                <a:lnTo>
                  <a:pt x="192525" y="955014"/>
                </a:lnTo>
                <a:lnTo>
                  <a:pt x="162390" y="911882"/>
                </a:lnTo>
                <a:lnTo>
                  <a:pt x="137653" y="867865"/>
                </a:lnTo>
                <a:lnTo>
                  <a:pt x="116971" y="823414"/>
                </a:lnTo>
                <a:lnTo>
                  <a:pt x="98888" y="778757"/>
                </a:lnTo>
                <a:lnTo>
                  <a:pt x="82082" y="733866"/>
                </a:lnTo>
                <a:lnTo>
                  <a:pt x="65615" y="688493"/>
                </a:lnTo>
                <a:lnTo>
                  <a:pt x="49129" y="642240"/>
                </a:lnTo>
                <a:lnTo>
                  <a:pt x="32972" y="594669"/>
                </a:lnTo>
                <a:lnTo>
                  <a:pt x="18204" y="545433"/>
                </a:lnTo>
                <a:lnTo>
                  <a:pt x="6510" y="494394"/>
                </a:lnTo>
                <a:lnTo>
                  <a:pt x="0" y="441714"/>
                </a:lnTo>
                <a:lnTo>
                  <a:pt x="948" y="387909"/>
                </a:lnTo>
                <a:lnTo>
                  <a:pt x="11491" y="333836"/>
                </a:lnTo>
                <a:lnTo>
                  <a:pt x="33344" y="280636"/>
                </a:lnTo>
                <a:lnTo>
                  <a:pt x="67565" y="229616"/>
                </a:lnTo>
                <a:lnTo>
                  <a:pt x="114407" y="182112"/>
                </a:lnTo>
                <a:lnTo>
                  <a:pt x="173284" y="139331"/>
                </a:lnTo>
                <a:lnTo>
                  <a:pt x="242838" y="102211"/>
                </a:lnTo>
                <a:lnTo>
                  <a:pt x="321113" y="71321"/>
                </a:lnTo>
                <a:lnTo>
                  <a:pt x="405789" y="46803"/>
                </a:lnTo>
                <a:lnTo>
                  <a:pt x="494455" y="28382"/>
                </a:lnTo>
                <a:lnTo>
                  <a:pt x="584869" y="15427"/>
                </a:lnTo>
                <a:lnTo>
                  <a:pt x="675165" y="7062"/>
                </a:lnTo>
                <a:lnTo>
                  <a:pt x="763992" y="2306"/>
                </a:lnTo>
                <a:lnTo>
                  <a:pt x="850559" y="212"/>
                </a:lnTo>
                <a:lnTo>
                  <a:pt x="934590" y="0"/>
                </a:lnTo>
                <a:lnTo>
                  <a:pt x="1016205" y="1143"/>
                </a:lnTo>
                <a:lnTo>
                  <a:pt x="1095763" y="3410"/>
                </a:lnTo>
                <a:lnTo>
                  <a:pt x="1173686" y="6853"/>
                </a:lnTo>
                <a:lnTo>
                  <a:pt x="1250309" y="11747"/>
                </a:lnTo>
                <a:lnTo>
                  <a:pt x="1325780" y="18495"/>
                </a:lnTo>
                <a:lnTo>
                  <a:pt x="1400025" y="27518"/>
                </a:lnTo>
                <a:lnTo>
                  <a:pt x="1472783" y="39147"/>
                </a:lnTo>
                <a:lnTo>
                  <a:pt x="1543697" y="53542"/>
                </a:lnTo>
                <a:lnTo>
                  <a:pt x="1612436" y="70651"/>
                </a:lnTo>
                <a:lnTo>
                  <a:pt x="1678827" y="90216"/>
                </a:lnTo>
                <a:lnTo>
                  <a:pt x="1742957" y="111821"/>
                </a:lnTo>
                <a:lnTo>
                  <a:pt x="1805213" y="134974"/>
                </a:lnTo>
                <a:lnTo>
                  <a:pt x="1866265" y="159219"/>
                </a:lnTo>
                <a:lnTo>
                  <a:pt x="1926964" y="184228"/>
                </a:lnTo>
                <a:lnTo>
                  <a:pt x="1988182" y="209888"/>
                </a:lnTo>
                <a:lnTo>
                  <a:pt x="2050620" y="236337"/>
                </a:lnTo>
                <a:lnTo>
                  <a:pt x="2114603" y="263966"/>
                </a:lnTo>
                <a:lnTo>
                  <a:pt x="2179913" y="293358"/>
                </a:lnTo>
                <a:lnTo>
                  <a:pt x="2245693" y="325193"/>
                </a:lnTo>
                <a:lnTo>
                  <a:pt x="2310430" y="360131"/>
                </a:lnTo>
                <a:lnTo>
                  <a:pt x="2372049" y="398680"/>
                </a:lnTo>
                <a:lnTo>
                  <a:pt x="2428096" y="441085"/>
                </a:lnTo>
                <a:lnTo>
                  <a:pt x="2475989" y="487256"/>
                </a:lnTo>
                <a:lnTo>
                  <a:pt x="2513313" y="536739"/>
                </a:lnTo>
                <a:lnTo>
                  <a:pt x="2538106" y="588747"/>
                </a:lnTo>
                <a:close/>
              </a:path>
            </a:pathLst>
          </a:custGeom>
          <a:solidFill>
            <a:srgbClr val="FFF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457200" y="841248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>
                <a:solidFill>
                  <a:srgbClr val="14213D"/>
                </a:solidFill>
                <a:latin typeface="Calibri"/>
              </a:rPr>
              <a:t>A small classifier tells CAKE which flow is </a:t>
            </a:r>
            <a:r>
              <a:rPr sz="3000" b="1">
                <a:solidFill>
                  <a:srgbClr val="6250D6"/>
                </a:solidFill>
                <a:latin typeface="Calibri"/>
              </a:rPr>
              <a:t>the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>
                <a:solidFill>
                  <a:srgbClr val="56606E"/>
                </a:solidFill>
                <a:latin typeface="Calibri"/>
              </a:rPr>
              <a:t>So calls and games stay usable when they share a device with downloads, where fair queueing and threshold rules both 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93268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6B4E00"/>
                </a:solidFill>
                <a:latin typeface="Calibri"/>
              </a:rPr>
              <a:t>Interim: 6 of 10 seeds, emulated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77440"/>
            <a:ext cx="914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496312"/>
            <a:ext cx="164592" cy="164592"/>
          </a:xfrm>
          <a:prstGeom prst="ellipse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978408" y="2688336"/>
            <a:ext cx="329184" cy="201168"/>
          </a:xfrm>
          <a:prstGeom prst="round2Same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" y="2999232"/>
            <a:ext cx="1133856" cy="822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63824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1">
                <a:solidFill>
                  <a:srgbClr val="14213D"/>
                </a:solidFill>
                <a:latin typeface="Calibri"/>
              </a:rPr>
              <a:t>One laptop</a:t>
            </a:r>
          </a:p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a video call + 10 file-sharing connections</a:t>
            </a:r>
          </a:p>
        </p:txBody>
      </p:sp>
      <p:sp>
        <p:nvSpPr>
          <p:cNvPr id="4" name="Freeform 3"/>
          <p:cNvSpPr/>
          <p:nvPr/>
        </p:nvSpPr>
        <p:spPr>
          <a:xfrm>
            <a:off x="1618488" y="2523744"/>
            <a:ext cx="3108960" cy="128016"/>
          </a:xfrm>
          <a:custGeom>
            <a:avLst/>
            <a:gdLst/>
            <a:ahLst/>
            <a:cxnLst/>
            <a:rect l="l" t="t" r="r" b="b"/>
            <a:pathLst>
              <a:path w="3108960" h="128016">
                <a:moveTo>
                  <a:pt x="0" y="0"/>
                </a:moveTo>
                <a:lnTo>
                  <a:pt x="126008" y="290"/>
                </a:lnTo>
                <a:lnTo>
                  <a:pt x="245219" y="1141"/>
                </a:lnTo>
                <a:lnTo>
                  <a:pt x="358034" y="2518"/>
                </a:lnTo>
                <a:lnTo>
                  <a:pt x="464851" y="4390"/>
                </a:lnTo>
                <a:lnTo>
                  <a:pt x="566071" y="6722"/>
                </a:lnTo>
                <a:lnTo>
                  <a:pt x="662093" y="9482"/>
                </a:lnTo>
                <a:lnTo>
                  <a:pt x="753317" y="12638"/>
                </a:lnTo>
                <a:lnTo>
                  <a:pt x="840144" y="16155"/>
                </a:lnTo>
                <a:lnTo>
                  <a:pt x="922972" y="20002"/>
                </a:lnTo>
                <a:lnTo>
                  <a:pt x="1002202" y="24145"/>
                </a:lnTo>
                <a:lnTo>
                  <a:pt x="1078233" y="28552"/>
                </a:lnTo>
                <a:lnTo>
                  <a:pt x="1151466" y="33189"/>
                </a:lnTo>
                <a:lnTo>
                  <a:pt x="1222300" y="38023"/>
                </a:lnTo>
                <a:lnTo>
                  <a:pt x="1291135" y="43023"/>
                </a:lnTo>
                <a:lnTo>
                  <a:pt x="1358370" y="48154"/>
                </a:lnTo>
                <a:lnTo>
                  <a:pt x="1424406" y="53383"/>
                </a:lnTo>
                <a:lnTo>
                  <a:pt x="1489643" y="58679"/>
                </a:lnTo>
                <a:lnTo>
                  <a:pt x="1554480" y="64008"/>
                </a:lnTo>
                <a:lnTo>
                  <a:pt x="1619316" y="69336"/>
                </a:lnTo>
                <a:lnTo>
                  <a:pt x="1684553" y="74632"/>
                </a:lnTo>
                <a:lnTo>
                  <a:pt x="1750589" y="79861"/>
                </a:lnTo>
                <a:lnTo>
                  <a:pt x="1817824" y="84992"/>
                </a:lnTo>
                <a:lnTo>
                  <a:pt x="1886659" y="89992"/>
                </a:lnTo>
                <a:lnTo>
                  <a:pt x="1957493" y="94826"/>
                </a:lnTo>
                <a:lnTo>
                  <a:pt x="2030726" y="99463"/>
                </a:lnTo>
                <a:lnTo>
                  <a:pt x="2106757" y="103870"/>
                </a:lnTo>
                <a:lnTo>
                  <a:pt x="2185987" y="108013"/>
                </a:lnTo>
                <a:lnTo>
                  <a:pt x="2268815" y="111860"/>
                </a:lnTo>
                <a:lnTo>
                  <a:pt x="2355642" y="115377"/>
                </a:lnTo>
                <a:lnTo>
                  <a:pt x="2446866" y="118533"/>
                </a:lnTo>
                <a:lnTo>
                  <a:pt x="2542888" y="121293"/>
                </a:lnTo>
                <a:lnTo>
                  <a:pt x="2644108" y="123625"/>
                </a:lnTo>
                <a:lnTo>
                  <a:pt x="2750925" y="125497"/>
                </a:lnTo>
                <a:lnTo>
                  <a:pt x="2863740" y="126874"/>
                </a:lnTo>
                <a:lnTo>
                  <a:pt x="2982951" y="127725"/>
                </a:lnTo>
                <a:lnTo>
                  <a:pt x="3108960" y="128016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618488" y="2578608"/>
            <a:ext cx="3108960" cy="91440"/>
          </a:xfrm>
          <a:custGeom>
            <a:avLst/>
            <a:gdLst/>
            <a:ahLst/>
            <a:cxnLst/>
            <a:rect l="l" t="t" r="r" b="b"/>
            <a:pathLst>
              <a:path w="3108960" h="91440">
                <a:moveTo>
                  <a:pt x="0" y="0"/>
                </a:moveTo>
                <a:lnTo>
                  <a:pt x="126008" y="207"/>
                </a:lnTo>
                <a:lnTo>
                  <a:pt x="245219" y="815"/>
                </a:lnTo>
                <a:lnTo>
                  <a:pt x="358034" y="1799"/>
                </a:lnTo>
                <a:lnTo>
                  <a:pt x="464851" y="3135"/>
                </a:lnTo>
                <a:lnTo>
                  <a:pt x="566071" y="4801"/>
                </a:lnTo>
                <a:lnTo>
                  <a:pt x="662093" y="6773"/>
                </a:lnTo>
                <a:lnTo>
                  <a:pt x="753317" y="9027"/>
                </a:lnTo>
                <a:lnTo>
                  <a:pt x="840144" y="11539"/>
                </a:lnTo>
                <a:lnTo>
                  <a:pt x="922972" y="14287"/>
                </a:lnTo>
                <a:lnTo>
                  <a:pt x="1002202" y="17246"/>
                </a:lnTo>
                <a:lnTo>
                  <a:pt x="1078233" y="20394"/>
                </a:lnTo>
                <a:lnTo>
                  <a:pt x="1151466" y="23706"/>
                </a:lnTo>
                <a:lnTo>
                  <a:pt x="1222300" y="27159"/>
                </a:lnTo>
                <a:lnTo>
                  <a:pt x="1291135" y="30730"/>
                </a:lnTo>
                <a:lnTo>
                  <a:pt x="1358370" y="34395"/>
                </a:lnTo>
                <a:lnTo>
                  <a:pt x="1424406" y="38131"/>
                </a:lnTo>
                <a:lnTo>
                  <a:pt x="1489643" y="41913"/>
                </a:lnTo>
                <a:lnTo>
                  <a:pt x="1554480" y="45720"/>
                </a:lnTo>
                <a:lnTo>
                  <a:pt x="1619316" y="49526"/>
                </a:lnTo>
                <a:lnTo>
                  <a:pt x="1684553" y="53308"/>
                </a:lnTo>
                <a:lnTo>
                  <a:pt x="1750589" y="57044"/>
                </a:lnTo>
                <a:lnTo>
                  <a:pt x="1817824" y="60709"/>
                </a:lnTo>
                <a:lnTo>
                  <a:pt x="1886659" y="64280"/>
                </a:lnTo>
                <a:lnTo>
                  <a:pt x="1957493" y="67733"/>
                </a:lnTo>
                <a:lnTo>
                  <a:pt x="2030726" y="71045"/>
                </a:lnTo>
                <a:lnTo>
                  <a:pt x="2106757" y="74193"/>
                </a:lnTo>
                <a:lnTo>
                  <a:pt x="2185987" y="77152"/>
                </a:lnTo>
                <a:lnTo>
                  <a:pt x="2268815" y="79900"/>
                </a:lnTo>
                <a:lnTo>
                  <a:pt x="2355642" y="82412"/>
                </a:lnTo>
                <a:lnTo>
                  <a:pt x="2446866" y="84666"/>
                </a:lnTo>
                <a:lnTo>
                  <a:pt x="2542888" y="86638"/>
                </a:lnTo>
                <a:lnTo>
                  <a:pt x="2644108" y="88304"/>
                </a:lnTo>
                <a:lnTo>
                  <a:pt x="2750925" y="89640"/>
                </a:lnTo>
                <a:lnTo>
                  <a:pt x="2863740" y="90624"/>
                </a:lnTo>
                <a:lnTo>
                  <a:pt x="2982951" y="91232"/>
                </a:lnTo>
                <a:lnTo>
                  <a:pt x="3108960" y="9144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18488" y="2633472"/>
            <a:ext cx="3108960" cy="54864"/>
          </a:xfrm>
          <a:custGeom>
            <a:avLst/>
            <a:gdLst/>
            <a:ahLst/>
            <a:cxnLst/>
            <a:rect l="l" t="t" r="r" b="b"/>
            <a:pathLst>
              <a:path w="3108960" h="54864">
                <a:moveTo>
                  <a:pt x="0" y="0"/>
                </a:moveTo>
                <a:lnTo>
                  <a:pt x="126008" y="124"/>
                </a:lnTo>
                <a:lnTo>
                  <a:pt x="245219" y="489"/>
                </a:lnTo>
                <a:lnTo>
                  <a:pt x="358034" y="1079"/>
                </a:lnTo>
                <a:lnTo>
                  <a:pt x="464851" y="1881"/>
                </a:lnTo>
                <a:lnTo>
                  <a:pt x="566071" y="2881"/>
                </a:lnTo>
                <a:lnTo>
                  <a:pt x="662093" y="4064"/>
                </a:lnTo>
                <a:lnTo>
                  <a:pt x="753317" y="5416"/>
                </a:lnTo>
                <a:lnTo>
                  <a:pt x="840144" y="6923"/>
                </a:lnTo>
                <a:lnTo>
                  <a:pt x="922972" y="8572"/>
                </a:lnTo>
                <a:lnTo>
                  <a:pt x="1002202" y="10348"/>
                </a:lnTo>
                <a:lnTo>
                  <a:pt x="1078233" y="12236"/>
                </a:lnTo>
                <a:lnTo>
                  <a:pt x="1151466" y="14224"/>
                </a:lnTo>
                <a:lnTo>
                  <a:pt x="1222300" y="16295"/>
                </a:lnTo>
                <a:lnTo>
                  <a:pt x="1291135" y="18438"/>
                </a:lnTo>
                <a:lnTo>
                  <a:pt x="1358370" y="20637"/>
                </a:lnTo>
                <a:lnTo>
                  <a:pt x="1424406" y="22878"/>
                </a:lnTo>
                <a:lnTo>
                  <a:pt x="1489643" y="25148"/>
                </a:lnTo>
                <a:lnTo>
                  <a:pt x="1554480" y="27432"/>
                </a:lnTo>
                <a:lnTo>
                  <a:pt x="1619316" y="29715"/>
                </a:lnTo>
                <a:lnTo>
                  <a:pt x="1684553" y="31985"/>
                </a:lnTo>
                <a:lnTo>
                  <a:pt x="1750589" y="34226"/>
                </a:lnTo>
                <a:lnTo>
                  <a:pt x="1817824" y="36425"/>
                </a:lnTo>
                <a:lnTo>
                  <a:pt x="1886659" y="38568"/>
                </a:lnTo>
                <a:lnTo>
                  <a:pt x="1957493" y="40640"/>
                </a:lnTo>
                <a:lnTo>
                  <a:pt x="2030726" y="42627"/>
                </a:lnTo>
                <a:lnTo>
                  <a:pt x="2106757" y="44515"/>
                </a:lnTo>
                <a:lnTo>
                  <a:pt x="2185987" y="46291"/>
                </a:lnTo>
                <a:lnTo>
                  <a:pt x="2268815" y="47940"/>
                </a:lnTo>
                <a:lnTo>
                  <a:pt x="2355642" y="49447"/>
                </a:lnTo>
                <a:lnTo>
                  <a:pt x="2446866" y="50800"/>
                </a:lnTo>
                <a:lnTo>
                  <a:pt x="2542888" y="51982"/>
                </a:lnTo>
                <a:lnTo>
                  <a:pt x="2644108" y="52982"/>
                </a:lnTo>
                <a:lnTo>
                  <a:pt x="2750925" y="53784"/>
                </a:lnTo>
                <a:lnTo>
                  <a:pt x="2863740" y="54374"/>
                </a:lnTo>
                <a:lnTo>
                  <a:pt x="2982951" y="54739"/>
                </a:lnTo>
                <a:lnTo>
                  <a:pt x="3108960" y="54864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618488" y="2688336"/>
            <a:ext cx="3108960" cy="18288"/>
          </a:xfrm>
          <a:custGeom>
            <a:avLst/>
            <a:gdLst/>
            <a:ahLst/>
            <a:cxnLst/>
            <a:rect l="l" t="t" r="r" b="b"/>
            <a:pathLst>
              <a:path w="3108960" h="18288">
                <a:moveTo>
                  <a:pt x="0" y="0"/>
                </a:moveTo>
                <a:lnTo>
                  <a:pt x="126008" y="41"/>
                </a:lnTo>
                <a:lnTo>
                  <a:pt x="245219" y="163"/>
                </a:lnTo>
                <a:lnTo>
                  <a:pt x="358034" y="359"/>
                </a:lnTo>
                <a:lnTo>
                  <a:pt x="464851" y="627"/>
                </a:lnTo>
                <a:lnTo>
                  <a:pt x="566071" y="960"/>
                </a:lnTo>
                <a:lnTo>
                  <a:pt x="662093" y="1354"/>
                </a:lnTo>
                <a:lnTo>
                  <a:pt x="753317" y="1805"/>
                </a:lnTo>
                <a:lnTo>
                  <a:pt x="840144" y="2307"/>
                </a:lnTo>
                <a:lnTo>
                  <a:pt x="922972" y="2857"/>
                </a:lnTo>
                <a:lnTo>
                  <a:pt x="1002202" y="3449"/>
                </a:lnTo>
                <a:lnTo>
                  <a:pt x="1078233" y="4078"/>
                </a:lnTo>
                <a:lnTo>
                  <a:pt x="1151466" y="4741"/>
                </a:lnTo>
                <a:lnTo>
                  <a:pt x="1222300" y="5431"/>
                </a:lnTo>
                <a:lnTo>
                  <a:pt x="1291135" y="6146"/>
                </a:lnTo>
                <a:lnTo>
                  <a:pt x="1358370" y="6879"/>
                </a:lnTo>
                <a:lnTo>
                  <a:pt x="1424406" y="7626"/>
                </a:lnTo>
                <a:lnTo>
                  <a:pt x="1489643" y="8382"/>
                </a:lnTo>
                <a:lnTo>
                  <a:pt x="1554480" y="9144"/>
                </a:lnTo>
                <a:lnTo>
                  <a:pt x="1619316" y="9905"/>
                </a:lnTo>
                <a:lnTo>
                  <a:pt x="1684553" y="10661"/>
                </a:lnTo>
                <a:lnTo>
                  <a:pt x="1750589" y="11408"/>
                </a:lnTo>
                <a:lnTo>
                  <a:pt x="1817824" y="12141"/>
                </a:lnTo>
                <a:lnTo>
                  <a:pt x="1886659" y="12856"/>
                </a:lnTo>
                <a:lnTo>
                  <a:pt x="1957493" y="13546"/>
                </a:lnTo>
                <a:lnTo>
                  <a:pt x="2030726" y="14209"/>
                </a:lnTo>
                <a:lnTo>
                  <a:pt x="2106757" y="14838"/>
                </a:lnTo>
                <a:lnTo>
                  <a:pt x="2185987" y="15430"/>
                </a:lnTo>
                <a:lnTo>
                  <a:pt x="2268815" y="15980"/>
                </a:lnTo>
                <a:lnTo>
                  <a:pt x="2355642" y="16482"/>
                </a:lnTo>
                <a:lnTo>
                  <a:pt x="2446866" y="16933"/>
                </a:lnTo>
                <a:lnTo>
                  <a:pt x="2542888" y="17327"/>
                </a:lnTo>
                <a:lnTo>
                  <a:pt x="2644108" y="17660"/>
                </a:lnTo>
                <a:lnTo>
                  <a:pt x="2750925" y="17928"/>
                </a:lnTo>
                <a:lnTo>
                  <a:pt x="2863740" y="18124"/>
                </a:lnTo>
                <a:lnTo>
                  <a:pt x="2982951" y="18246"/>
                </a:lnTo>
                <a:lnTo>
                  <a:pt x="3108960" y="18288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618488" y="2724912"/>
            <a:ext cx="3108960" cy="18288"/>
          </a:xfrm>
          <a:custGeom>
            <a:avLst/>
            <a:gdLst/>
            <a:ahLst/>
            <a:cxnLst/>
            <a:rect l="l" t="t" r="r" b="b"/>
            <a:pathLst>
              <a:path w="3108960" h="18288">
                <a:moveTo>
                  <a:pt x="0" y="18288"/>
                </a:moveTo>
                <a:lnTo>
                  <a:pt x="126008" y="18246"/>
                </a:lnTo>
                <a:lnTo>
                  <a:pt x="245219" y="18124"/>
                </a:lnTo>
                <a:lnTo>
                  <a:pt x="358034" y="17928"/>
                </a:lnTo>
                <a:lnTo>
                  <a:pt x="464851" y="17660"/>
                </a:lnTo>
                <a:lnTo>
                  <a:pt x="566071" y="17327"/>
                </a:lnTo>
                <a:lnTo>
                  <a:pt x="662093" y="16933"/>
                </a:lnTo>
                <a:lnTo>
                  <a:pt x="753317" y="16482"/>
                </a:lnTo>
                <a:lnTo>
                  <a:pt x="840144" y="15980"/>
                </a:lnTo>
                <a:lnTo>
                  <a:pt x="922972" y="15430"/>
                </a:lnTo>
                <a:lnTo>
                  <a:pt x="1002202" y="14838"/>
                </a:lnTo>
                <a:lnTo>
                  <a:pt x="1078233" y="14209"/>
                </a:lnTo>
                <a:lnTo>
                  <a:pt x="1151466" y="13546"/>
                </a:lnTo>
                <a:lnTo>
                  <a:pt x="1222300" y="12856"/>
                </a:lnTo>
                <a:lnTo>
                  <a:pt x="1291135" y="12141"/>
                </a:lnTo>
                <a:lnTo>
                  <a:pt x="1358370" y="11408"/>
                </a:lnTo>
                <a:lnTo>
                  <a:pt x="1424406" y="10661"/>
                </a:lnTo>
                <a:lnTo>
                  <a:pt x="1489643" y="9905"/>
                </a:lnTo>
                <a:lnTo>
                  <a:pt x="1554480" y="9144"/>
                </a:lnTo>
                <a:lnTo>
                  <a:pt x="1619316" y="8382"/>
                </a:lnTo>
                <a:lnTo>
                  <a:pt x="1684553" y="7626"/>
                </a:lnTo>
                <a:lnTo>
                  <a:pt x="1750589" y="6879"/>
                </a:lnTo>
                <a:lnTo>
                  <a:pt x="1817824" y="6146"/>
                </a:lnTo>
                <a:lnTo>
                  <a:pt x="1886659" y="5431"/>
                </a:lnTo>
                <a:lnTo>
                  <a:pt x="1957493" y="4741"/>
                </a:lnTo>
                <a:lnTo>
                  <a:pt x="2030726" y="4078"/>
                </a:lnTo>
                <a:lnTo>
                  <a:pt x="2106757" y="3449"/>
                </a:lnTo>
                <a:lnTo>
                  <a:pt x="2185987" y="2857"/>
                </a:lnTo>
                <a:lnTo>
                  <a:pt x="2268815" y="2307"/>
                </a:lnTo>
                <a:lnTo>
                  <a:pt x="2355642" y="1805"/>
                </a:lnTo>
                <a:lnTo>
                  <a:pt x="2446866" y="1354"/>
                </a:lnTo>
                <a:lnTo>
                  <a:pt x="2542888" y="960"/>
                </a:lnTo>
                <a:lnTo>
                  <a:pt x="2644108" y="627"/>
                </a:lnTo>
                <a:lnTo>
                  <a:pt x="2750925" y="359"/>
                </a:lnTo>
                <a:lnTo>
                  <a:pt x="2863740" y="163"/>
                </a:lnTo>
                <a:lnTo>
                  <a:pt x="2982951" y="41"/>
                </a:lnTo>
                <a:lnTo>
                  <a:pt x="3108960" y="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618488" y="2743200"/>
            <a:ext cx="3108960" cy="54864"/>
          </a:xfrm>
          <a:custGeom>
            <a:avLst/>
            <a:gdLst/>
            <a:ahLst/>
            <a:cxnLst/>
            <a:rect l="l" t="t" r="r" b="b"/>
            <a:pathLst>
              <a:path w="3108960" h="54864">
                <a:moveTo>
                  <a:pt x="0" y="54864"/>
                </a:moveTo>
                <a:lnTo>
                  <a:pt x="126008" y="54739"/>
                </a:lnTo>
                <a:lnTo>
                  <a:pt x="245219" y="54374"/>
                </a:lnTo>
                <a:lnTo>
                  <a:pt x="358034" y="53784"/>
                </a:lnTo>
                <a:lnTo>
                  <a:pt x="464851" y="52982"/>
                </a:lnTo>
                <a:lnTo>
                  <a:pt x="566071" y="51982"/>
                </a:lnTo>
                <a:lnTo>
                  <a:pt x="662093" y="50800"/>
                </a:lnTo>
                <a:lnTo>
                  <a:pt x="753317" y="49447"/>
                </a:lnTo>
                <a:lnTo>
                  <a:pt x="840144" y="47940"/>
                </a:lnTo>
                <a:lnTo>
                  <a:pt x="922972" y="46291"/>
                </a:lnTo>
                <a:lnTo>
                  <a:pt x="1002202" y="44515"/>
                </a:lnTo>
                <a:lnTo>
                  <a:pt x="1078233" y="42627"/>
                </a:lnTo>
                <a:lnTo>
                  <a:pt x="1151466" y="40640"/>
                </a:lnTo>
                <a:lnTo>
                  <a:pt x="1222300" y="38568"/>
                </a:lnTo>
                <a:lnTo>
                  <a:pt x="1291135" y="36425"/>
                </a:lnTo>
                <a:lnTo>
                  <a:pt x="1358370" y="34226"/>
                </a:lnTo>
                <a:lnTo>
                  <a:pt x="1424406" y="31985"/>
                </a:lnTo>
                <a:lnTo>
                  <a:pt x="1489643" y="29715"/>
                </a:lnTo>
                <a:lnTo>
                  <a:pt x="1554480" y="27432"/>
                </a:lnTo>
                <a:lnTo>
                  <a:pt x="1619316" y="25148"/>
                </a:lnTo>
                <a:lnTo>
                  <a:pt x="1684553" y="22878"/>
                </a:lnTo>
                <a:lnTo>
                  <a:pt x="1750589" y="20637"/>
                </a:lnTo>
                <a:lnTo>
                  <a:pt x="1817824" y="18438"/>
                </a:lnTo>
                <a:lnTo>
                  <a:pt x="1886659" y="16295"/>
                </a:lnTo>
                <a:lnTo>
                  <a:pt x="1957493" y="14224"/>
                </a:lnTo>
                <a:lnTo>
                  <a:pt x="2030726" y="12236"/>
                </a:lnTo>
                <a:lnTo>
                  <a:pt x="2106757" y="10348"/>
                </a:lnTo>
                <a:lnTo>
                  <a:pt x="2185987" y="8572"/>
                </a:lnTo>
                <a:lnTo>
                  <a:pt x="2268815" y="6923"/>
                </a:lnTo>
                <a:lnTo>
                  <a:pt x="2355642" y="5416"/>
                </a:lnTo>
                <a:lnTo>
                  <a:pt x="2446866" y="4064"/>
                </a:lnTo>
                <a:lnTo>
                  <a:pt x="2542888" y="2881"/>
                </a:lnTo>
                <a:lnTo>
                  <a:pt x="2644108" y="1881"/>
                </a:lnTo>
                <a:lnTo>
                  <a:pt x="2750925" y="1079"/>
                </a:lnTo>
                <a:lnTo>
                  <a:pt x="2863740" y="489"/>
                </a:lnTo>
                <a:lnTo>
                  <a:pt x="2982951" y="124"/>
                </a:lnTo>
                <a:lnTo>
                  <a:pt x="3108960" y="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618488" y="2761488"/>
            <a:ext cx="3108960" cy="91440"/>
          </a:xfrm>
          <a:custGeom>
            <a:avLst/>
            <a:gdLst/>
            <a:ahLst/>
            <a:cxnLst/>
            <a:rect l="l" t="t" r="r" b="b"/>
            <a:pathLst>
              <a:path w="3108960" h="91440">
                <a:moveTo>
                  <a:pt x="0" y="91440"/>
                </a:moveTo>
                <a:lnTo>
                  <a:pt x="126008" y="91232"/>
                </a:lnTo>
                <a:lnTo>
                  <a:pt x="245219" y="90624"/>
                </a:lnTo>
                <a:lnTo>
                  <a:pt x="358034" y="89640"/>
                </a:lnTo>
                <a:lnTo>
                  <a:pt x="464851" y="88304"/>
                </a:lnTo>
                <a:lnTo>
                  <a:pt x="566071" y="86638"/>
                </a:lnTo>
                <a:lnTo>
                  <a:pt x="662093" y="84666"/>
                </a:lnTo>
                <a:lnTo>
                  <a:pt x="753317" y="82412"/>
                </a:lnTo>
                <a:lnTo>
                  <a:pt x="840144" y="79900"/>
                </a:lnTo>
                <a:lnTo>
                  <a:pt x="922972" y="77152"/>
                </a:lnTo>
                <a:lnTo>
                  <a:pt x="1002202" y="74193"/>
                </a:lnTo>
                <a:lnTo>
                  <a:pt x="1078233" y="71045"/>
                </a:lnTo>
                <a:lnTo>
                  <a:pt x="1151466" y="67733"/>
                </a:lnTo>
                <a:lnTo>
                  <a:pt x="1222300" y="64280"/>
                </a:lnTo>
                <a:lnTo>
                  <a:pt x="1291135" y="60709"/>
                </a:lnTo>
                <a:lnTo>
                  <a:pt x="1358370" y="57044"/>
                </a:lnTo>
                <a:lnTo>
                  <a:pt x="1424406" y="53308"/>
                </a:lnTo>
                <a:lnTo>
                  <a:pt x="1489643" y="49526"/>
                </a:lnTo>
                <a:lnTo>
                  <a:pt x="1554480" y="45720"/>
                </a:lnTo>
                <a:lnTo>
                  <a:pt x="1619316" y="41913"/>
                </a:lnTo>
                <a:lnTo>
                  <a:pt x="1684553" y="38131"/>
                </a:lnTo>
                <a:lnTo>
                  <a:pt x="1750589" y="34395"/>
                </a:lnTo>
                <a:lnTo>
                  <a:pt x="1817824" y="30730"/>
                </a:lnTo>
                <a:lnTo>
                  <a:pt x="1886659" y="27159"/>
                </a:lnTo>
                <a:lnTo>
                  <a:pt x="1957493" y="23706"/>
                </a:lnTo>
                <a:lnTo>
                  <a:pt x="2030726" y="20394"/>
                </a:lnTo>
                <a:lnTo>
                  <a:pt x="2106757" y="17246"/>
                </a:lnTo>
                <a:lnTo>
                  <a:pt x="2185987" y="14287"/>
                </a:lnTo>
                <a:lnTo>
                  <a:pt x="2268815" y="11539"/>
                </a:lnTo>
                <a:lnTo>
                  <a:pt x="2355642" y="9027"/>
                </a:lnTo>
                <a:lnTo>
                  <a:pt x="2446866" y="6773"/>
                </a:lnTo>
                <a:lnTo>
                  <a:pt x="2542888" y="4801"/>
                </a:lnTo>
                <a:lnTo>
                  <a:pt x="2644108" y="3135"/>
                </a:lnTo>
                <a:lnTo>
                  <a:pt x="2750925" y="1799"/>
                </a:lnTo>
                <a:lnTo>
                  <a:pt x="2863740" y="815"/>
                </a:lnTo>
                <a:lnTo>
                  <a:pt x="2982951" y="207"/>
                </a:lnTo>
                <a:lnTo>
                  <a:pt x="3108960" y="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618488" y="2779776"/>
            <a:ext cx="3108960" cy="128016"/>
          </a:xfrm>
          <a:custGeom>
            <a:avLst/>
            <a:gdLst/>
            <a:ahLst/>
            <a:cxnLst/>
            <a:rect l="l" t="t" r="r" b="b"/>
            <a:pathLst>
              <a:path w="3108960" h="128016">
                <a:moveTo>
                  <a:pt x="0" y="128016"/>
                </a:moveTo>
                <a:lnTo>
                  <a:pt x="126008" y="127725"/>
                </a:lnTo>
                <a:lnTo>
                  <a:pt x="245219" y="126874"/>
                </a:lnTo>
                <a:lnTo>
                  <a:pt x="358034" y="125497"/>
                </a:lnTo>
                <a:lnTo>
                  <a:pt x="464851" y="123625"/>
                </a:lnTo>
                <a:lnTo>
                  <a:pt x="566071" y="121293"/>
                </a:lnTo>
                <a:lnTo>
                  <a:pt x="662093" y="118533"/>
                </a:lnTo>
                <a:lnTo>
                  <a:pt x="753317" y="115377"/>
                </a:lnTo>
                <a:lnTo>
                  <a:pt x="840144" y="111860"/>
                </a:lnTo>
                <a:lnTo>
                  <a:pt x="922972" y="108013"/>
                </a:lnTo>
                <a:lnTo>
                  <a:pt x="1002202" y="103870"/>
                </a:lnTo>
                <a:lnTo>
                  <a:pt x="1078233" y="99463"/>
                </a:lnTo>
                <a:lnTo>
                  <a:pt x="1151466" y="94826"/>
                </a:lnTo>
                <a:lnTo>
                  <a:pt x="1222300" y="89992"/>
                </a:lnTo>
                <a:lnTo>
                  <a:pt x="1291135" y="84992"/>
                </a:lnTo>
                <a:lnTo>
                  <a:pt x="1358370" y="79861"/>
                </a:lnTo>
                <a:lnTo>
                  <a:pt x="1424406" y="74632"/>
                </a:lnTo>
                <a:lnTo>
                  <a:pt x="1489643" y="69336"/>
                </a:lnTo>
                <a:lnTo>
                  <a:pt x="1554480" y="64008"/>
                </a:lnTo>
                <a:lnTo>
                  <a:pt x="1619316" y="58679"/>
                </a:lnTo>
                <a:lnTo>
                  <a:pt x="1684553" y="53383"/>
                </a:lnTo>
                <a:lnTo>
                  <a:pt x="1750589" y="48154"/>
                </a:lnTo>
                <a:lnTo>
                  <a:pt x="1817824" y="43023"/>
                </a:lnTo>
                <a:lnTo>
                  <a:pt x="1886659" y="38023"/>
                </a:lnTo>
                <a:lnTo>
                  <a:pt x="1957493" y="33189"/>
                </a:lnTo>
                <a:lnTo>
                  <a:pt x="2030726" y="28552"/>
                </a:lnTo>
                <a:lnTo>
                  <a:pt x="2106757" y="24145"/>
                </a:lnTo>
                <a:lnTo>
                  <a:pt x="2185987" y="20002"/>
                </a:lnTo>
                <a:lnTo>
                  <a:pt x="2268815" y="16155"/>
                </a:lnTo>
                <a:lnTo>
                  <a:pt x="2355642" y="12638"/>
                </a:lnTo>
                <a:lnTo>
                  <a:pt x="2446866" y="9482"/>
                </a:lnTo>
                <a:lnTo>
                  <a:pt x="2542888" y="6722"/>
                </a:lnTo>
                <a:lnTo>
                  <a:pt x="2644108" y="4390"/>
                </a:lnTo>
                <a:lnTo>
                  <a:pt x="2750925" y="2518"/>
                </a:lnTo>
                <a:lnTo>
                  <a:pt x="2863740" y="1141"/>
                </a:lnTo>
                <a:lnTo>
                  <a:pt x="2982951" y="290"/>
                </a:lnTo>
                <a:lnTo>
                  <a:pt x="3108960" y="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618488" y="2798064"/>
            <a:ext cx="3108960" cy="164592"/>
          </a:xfrm>
          <a:custGeom>
            <a:avLst/>
            <a:gdLst/>
            <a:ahLst/>
            <a:cxnLst/>
            <a:rect l="l" t="t" r="r" b="b"/>
            <a:pathLst>
              <a:path w="3108960" h="164592">
                <a:moveTo>
                  <a:pt x="0" y="164592"/>
                </a:moveTo>
                <a:lnTo>
                  <a:pt x="126008" y="164218"/>
                </a:lnTo>
                <a:lnTo>
                  <a:pt x="245219" y="163124"/>
                </a:lnTo>
                <a:lnTo>
                  <a:pt x="358034" y="161353"/>
                </a:lnTo>
                <a:lnTo>
                  <a:pt x="464851" y="158947"/>
                </a:lnTo>
                <a:lnTo>
                  <a:pt x="566071" y="155948"/>
                </a:lnTo>
                <a:lnTo>
                  <a:pt x="662093" y="152400"/>
                </a:lnTo>
                <a:lnTo>
                  <a:pt x="753317" y="148343"/>
                </a:lnTo>
                <a:lnTo>
                  <a:pt x="840144" y="143820"/>
                </a:lnTo>
                <a:lnTo>
                  <a:pt x="922972" y="138874"/>
                </a:lnTo>
                <a:lnTo>
                  <a:pt x="1002202" y="133547"/>
                </a:lnTo>
                <a:lnTo>
                  <a:pt x="1078233" y="127881"/>
                </a:lnTo>
                <a:lnTo>
                  <a:pt x="1151466" y="121920"/>
                </a:lnTo>
                <a:lnTo>
                  <a:pt x="1222300" y="115704"/>
                </a:lnTo>
                <a:lnTo>
                  <a:pt x="1291135" y="109276"/>
                </a:lnTo>
                <a:lnTo>
                  <a:pt x="1358370" y="102679"/>
                </a:lnTo>
                <a:lnTo>
                  <a:pt x="1424406" y="95955"/>
                </a:lnTo>
                <a:lnTo>
                  <a:pt x="1489643" y="89146"/>
                </a:lnTo>
                <a:lnTo>
                  <a:pt x="1554480" y="82296"/>
                </a:lnTo>
                <a:lnTo>
                  <a:pt x="1619316" y="75445"/>
                </a:lnTo>
                <a:lnTo>
                  <a:pt x="1684553" y="68636"/>
                </a:lnTo>
                <a:lnTo>
                  <a:pt x="1750589" y="61912"/>
                </a:lnTo>
                <a:lnTo>
                  <a:pt x="1817824" y="55315"/>
                </a:lnTo>
                <a:lnTo>
                  <a:pt x="1886659" y="48887"/>
                </a:lnTo>
                <a:lnTo>
                  <a:pt x="1957493" y="42672"/>
                </a:lnTo>
                <a:lnTo>
                  <a:pt x="2030726" y="36710"/>
                </a:lnTo>
                <a:lnTo>
                  <a:pt x="2106757" y="31044"/>
                </a:lnTo>
                <a:lnTo>
                  <a:pt x="2185987" y="25717"/>
                </a:lnTo>
                <a:lnTo>
                  <a:pt x="2268815" y="20771"/>
                </a:lnTo>
                <a:lnTo>
                  <a:pt x="2355642" y="16248"/>
                </a:lnTo>
                <a:lnTo>
                  <a:pt x="2446866" y="12192"/>
                </a:lnTo>
                <a:lnTo>
                  <a:pt x="2542888" y="8643"/>
                </a:lnTo>
                <a:lnTo>
                  <a:pt x="2644108" y="5644"/>
                </a:lnTo>
                <a:lnTo>
                  <a:pt x="2750925" y="3238"/>
                </a:lnTo>
                <a:lnTo>
                  <a:pt x="2863740" y="1467"/>
                </a:lnTo>
                <a:lnTo>
                  <a:pt x="2982951" y="373"/>
                </a:lnTo>
                <a:lnTo>
                  <a:pt x="3108960" y="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618488" y="2816352"/>
            <a:ext cx="3108960" cy="201168"/>
          </a:xfrm>
          <a:custGeom>
            <a:avLst/>
            <a:gdLst/>
            <a:ahLst/>
            <a:cxnLst/>
            <a:rect l="l" t="t" r="r" b="b"/>
            <a:pathLst>
              <a:path w="3108960" h="201168">
                <a:moveTo>
                  <a:pt x="0" y="201168"/>
                </a:moveTo>
                <a:lnTo>
                  <a:pt x="126008" y="200710"/>
                </a:lnTo>
                <a:lnTo>
                  <a:pt x="245219" y="199374"/>
                </a:lnTo>
                <a:lnTo>
                  <a:pt x="358034" y="197209"/>
                </a:lnTo>
                <a:lnTo>
                  <a:pt x="464851" y="194269"/>
                </a:lnTo>
                <a:lnTo>
                  <a:pt x="566071" y="190604"/>
                </a:lnTo>
                <a:lnTo>
                  <a:pt x="662093" y="186266"/>
                </a:lnTo>
                <a:lnTo>
                  <a:pt x="753317" y="181308"/>
                </a:lnTo>
                <a:lnTo>
                  <a:pt x="840144" y="175780"/>
                </a:lnTo>
                <a:lnTo>
                  <a:pt x="922972" y="169735"/>
                </a:lnTo>
                <a:lnTo>
                  <a:pt x="1002202" y="163224"/>
                </a:lnTo>
                <a:lnTo>
                  <a:pt x="1078233" y="156300"/>
                </a:lnTo>
                <a:lnTo>
                  <a:pt x="1151466" y="149013"/>
                </a:lnTo>
                <a:lnTo>
                  <a:pt x="1222300" y="141416"/>
                </a:lnTo>
                <a:lnTo>
                  <a:pt x="1291135" y="133560"/>
                </a:lnTo>
                <a:lnTo>
                  <a:pt x="1358370" y="125497"/>
                </a:lnTo>
                <a:lnTo>
                  <a:pt x="1424406" y="117279"/>
                </a:lnTo>
                <a:lnTo>
                  <a:pt x="1489643" y="108957"/>
                </a:lnTo>
                <a:lnTo>
                  <a:pt x="1554480" y="100584"/>
                </a:lnTo>
                <a:lnTo>
                  <a:pt x="1619316" y="92210"/>
                </a:lnTo>
                <a:lnTo>
                  <a:pt x="1684553" y="83888"/>
                </a:lnTo>
                <a:lnTo>
                  <a:pt x="1750589" y="75670"/>
                </a:lnTo>
                <a:lnTo>
                  <a:pt x="1817824" y="67607"/>
                </a:lnTo>
                <a:lnTo>
                  <a:pt x="1886659" y="59751"/>
                </a:lnTo>
                <a:lnTo>
                  <a:pt x="1957493" y="52154"/>
                </a:lnTo>
                <a:lnTo>
                  <a:pt x="2030726" y="44867"/>
                </a:lnTo>
                <a:lnTo>
                  <a:pt x="2106757" y="37943"/>
                </a:lnTo>
                <a:lnTo>
                  <a:pt x="2185987" y="31432"/>
                </a:lnTo>
                <a:lnTo>
                  <a:pt x="2268815" y="25387"/>
                </a:lnTo>
                <a:lnTo>
                  <a:pt x="2355642" y="19859"/>
                </a:lnTo>
                <a:lnTo>
                  <a:pt x="2446866" y="14901"/>
                </a:lnTo>
                <a:lnTo>
                  <a:pt x="2542888" y="10563"/>
                </a:lnTo>
                <a:lnTo>
                  <a:pt x="2644108" y="6898"/>
                </a:lnTo>
                <a:lnTo>
                  <a:pt x="2750925" y="3958"/>
                </a:lnTo>
                <a:lnTo>
                  <a:pt x="2863740" y="1793"/>
                </a:lnTo>
                <a:lnTo>
                  <a:pt x="2982951" y="457"/>
                </a:lnTo>
                <a:lnTo>
                  <a:pt x="3108960" y="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618488" y="2468880"/>
            <a:ext cx="3108960" cy="365760"/>
          </a:xfrm>
          <a:custGeom>
            <a:avLst/>
            <a:gdLst/>
            <a:ahLst/>
            <a:cxnLst/>
            <a:rect l="l" t="t" r="r" b="b"/>
            <a:pathLst>
              <a:path w="3108960" h="365760">
                <a:moveTo>
                  <a:pt x="0" y="0"/>
                </a:moveTo>
                <a:lnTo>
                  <a:pt x="126008" y="830"/>
                </a:lnTo>
                <a:lnTo>
                  <a:pt x="245219" y="3261"/>
                </a:lnTo>
                <a:lnTo>
                  <a:pt x="358034" y="7196"/>
                </a:lnTo>
                <a:lnTo>
                  <a:pt x="464851" y="12543"/>
                </a:lnTo>
                <a:lnTo>
                  <a:pt x="566071" y="19206"/>
                </a:lnTo>
                <a:lnTo>
                  <a:pt x="662093" y="27093"/>
                </a:lnTo>
                <a:lnTo>
                  <a:pt x="753317" y="36108"/>
                </a:lnTo>
                <a:lnTo>
                  <a:pt x="840144" y="46159"/>
                </a:lnTo>
                <a:lnTo>
                  <a:pt x="922972" y="57150"/>
                </a:lnTo>
                <a:lnTo>
                  <a:pt x="1002202" y="68987"/>
                </a:lnTo>
                <a:lnTo>
                  <a:pt x="1078233" y="81577"/>
                </a:lnTo>
                <a:lnTo>
                  <a:pt x="1151466" y="94826"/>
                </a:lnTo>
                <a:lnTo>
                  <a:pt x="1222300" y="108639"/>
                </a:lnTo>
                <a:lnTo>
                  <a:pt x="1291135" y="122923"/>
                </a:lnTo>
                <a:lnTo>
                  <a:pt x="1358370" y="137583"/>
                </a:lnTo>
                <a:lnTo>
                  <a:pt x="1424406" y="152525"/>
                </a:lnTo>
                <a:lnTo>
                  <a:pt x="1489643" y="167655"/>
                </a:lnTo>
                <a:lnTo>
                  <a:pt x="1554480" y="182880"/>
                </a:lnTo>
                <a:lnTo>
                  <a:pt x="1619316" y="198104"/>
                </a:lnTo>
                <a:lnTo>
                  <a:pt x="1684553" y="213234"/>
                </a:lnTo>
                <a:lnTo>
                  <a:pt x="1750589" y="228176"/>
                </a:lnTo>
                <a:lnTo>
                  <a:pt x="1817824" y="242836"/>
                </a:lnTo>
                <a:lnTo>
                  <a:pt x="1886659" y="257120"/>
                </a:lnTo>
                <a:lnTo>
                  <a:pt x="1957493" y="270933"/>
                </a:lnTo>
                <a:lnTo>
                  <a:pt x="2030726" y="284182"/>
                </a:lnTo>
                <a:lnTo>
                  <a:pt x="2106757" y="296772"/>
                </a:lnTo>
                <a:lnTo>
                  <a:pt x="2185987" y="308610"/>
                </a:lnTo>
                <a:lnTo>
                  <a:pt x="2268815" y="319600"/>
                </a:lnTo>
                <a:lnTo>
                  <a:pt x="2355642" y="329651"/>
                </a:lnTo>
                <a:lnTo>
                  <a:pt x="2446866" y="338666"/>
                </a:lnTo>
                <a:lnTo>
                  <a:pt x="2542888" y="346553"/>
                </a:lnTo>
                <a:lnTo>
                  <a:pt x="2644108" y="353216"/>
                </a:lnTo>
                <a:lnTo>
                  <a:pt x="2750925" y="358563"/>
                </a:lnTo>
                <a:lnTo>
                  <a:pt x="2863740" y="362498"/>
                </a:lnTo>
                <a:lnTo>
                  <a:pt x="2982951" y="364929"/>
                </a:lnTo>
                <a:lnTo>
                  <a:pt x="3108960" y="365760"/>
                </a:lnTo>
              </a:path>
            </a:pathLst>
          </a:custGeom>
          <a:noFill/>
          <a:ln w="381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1700784"/>
            <a:ext cx="2103120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2400" b="1">
                <a:solidFill>
                  <a:srgbClr val="6250D6"/>
                </a:solidFill>
                <a:latin typeface="Calibri"/>
              </a:rPr>
              <a:t>1/11</a:t>
            </a:r>
          </a:p>
          <a:p>
            <a:pPr algn="l"/>
            <a:r>
              <a:rPr sz="1000" b="0">
                <a:solidFill>
                  <a:srgbClr val="14213D"/>
                </a:solidFill>
                <a:latin typeface="Calibri"/>
              </a:rPr>
              <a:t>of the laptop's share is all fair queueing gives the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3072384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>
                <a:solidFill>
                  <a:srgbClr val="14213D"/>
                </a:solidFill>
                <a:latin typeface="Calibri"/>
              </a:rPr>
              <a:t>Threshold rules: </a:t>
            </a:r>
            <a:r>
              <a:rPr sz="950" b="0">
                <a:solidFill>
                  <a:srgbClr val="14213D"/>
                </a:solidFill>
                <a:latin typeface="Calibri"/>
              </a:rPr>
              <a:t>over 200 packets/s means Bulk, and HD calls send 400 to 600</a:t>
            </a:r>
          </a:p>
          <a:p>
            <a:pPr algn="l"/>
            <a:r>
              <a:rPr sz="1600" b="1">
                <a:solidFill>
                  <a:srgbClr val="E0612A"/>
                </a:solidFill>
                <a:latin typeface="Calibri"/>
              </a:rPr>
              <a:t>89%</a:t>
            </a:r>
            <a:r>
              <a:rPr sz="950" b="0">
                <a:solidFill>
                  <a:srgbClr val="14213D"/>
                </a:solidFill>
                <a:latin typeface="Calibri"/>
              </a:rPr>
              <a:t> qosify    </a:t>
            </a:r>
            <a:r>
              <a:rPr sz="1600" b="1">
                <a:solidFill>
                  <a:srgbClr val="6250D6"/>
                </a:solidFill>
                <a:latin typeface="Calibri"/>
              </a:rPr>
              <a:t>0%</a:t>
            </a:r>
            <a:r>
              <a:rPr sz="950" b="0">
                <a:solidFill>
                  <a:srgbClr val="14213D"/>
                </a:solidFill>
                <a:latin typeface="Calibri"/>
              </a:rPr>
              <a:t> ours</a:t>
            </a:r>
          </a:p>
          <a:p>
            <a:pPr algn="l"/>
            <a:r>
              <a:rPr sz="900" b="0">
                <a:solidFill>
                  <a:srgbClr val="56606E"/>
                </a:solidFill>
                <a:latin typeface="Calibri"/>
              </a:rPr>
              <a:t>of cloud-game flows sent to Bulk</a:t>
            </a:r>
          </a:p>
        </p:txBody>
      </p:sp>
      <p:sp>
        <p:nvSpPr>
          <p:cNvPr id="27" name="Oval 26"/>
          <p:cNvSpPr/>
          <p:nvPr/>
        </p:nvSpPr>
        <p:spPr>
          <a:xfrm>
            <a:off x="4709160" y="2194560"/>
            <a:ext cx="1097280" cy="1097280"/>
          </a:xfrm>
          <a:prstGeom prst="ellipse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LightGBM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7 classes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1.4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1737360"/>
            <a:ext cx="1554480" cy="4114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/>
            <a:r>
              <a:rPr sz="1000" b="1">
                <a:solidFill>
                  <a:srgbClr val="14213D"/>
                </a:solidFill>
                <a:latin typeface="Calibri"/>
              </a:rPr>
              <a:t>First 8 packets</a:t>
            </a:r>
          </a:p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sizes and gaps, no 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346704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1">
                <a:solidFill>
                  <a:srgbClr val="6250D6"/>
                </a:solidFill>
                <a:latin typeface="Calibri"/>
              </a:rPr>
              <a:t>94%</a:t>
            </a:r>
            <a:r>
              <a:rPr sz="950" b="0">
                <a:solidFill>
                  <a:srgbClr val="14213D"/>
                </a:solidFill>
                <a:latin typeface="Calibri"/>
              </a:rPr>
              <a:t> accuracy   </a:t>
            </a:r>
            <a:r>
              <a:rPr sz="1200" b="1">
                <a:solidFill>
                  <a:srgbClr val="6250D6"/>
                </a:solidFill>
                <a:latin typeface="Calibri"/>
              </a:rPr>
              <a:t>0.74</a:t>
            </a:r>
            <a:r>
              <a:rPr sz="950" b="0">
                <a:solidFill>
                  <a:srgbClr val="14213D"/>
                </a:solidFill>
                <a:latin typeface="Calibri"/>
              </a:rPr>
              <a:t> macro-F1</a:t>
            </a:r>
          </a:p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on 3,607 held-out flows. Video calls 100%, games 95% found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1956816"/>
            <a:ext cx="43708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r"/>
            <a:r>
              <a:rPr sz="950" b="1">
                <a:solidFill>
                  <a:srgbClr val="2A78D6"/>
                </a:solidFill>
                <a:latin typeface="Calibri"/>
              </a:rPr>
              <a:t>Voice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2359152"/>
            <a:ext cx="43708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r"/>
            <a:r>
              <a:rPr sz="950" b="1">
                <a:solidFill>
                  <a:srgbClr val="2A78D6"/>
                </a:solidFill>
                <a:latin typeface="Calibri"/>
              </a:rPr>
              <a:t>Video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2761488"/>
            <a:ext cx="43708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r"/>
            <a:r>
              <a:rPr sz="950" b="1">
                <a:solidFill>
                  <a:srgbClr val="2A78D6"/>
                </a:solidFill>
                <a:latin typeface="Calibri"/>
              </a:rPr>
              <a:t>Best Effort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163824"/>
            <a:ext cx="43708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r"/>
            <a:r>
              <a:rPr sz="950" b="1">
                <a:solidFill>
                  <a:srgbClr val="2A78D6"/>
                </a:solidFill>
                <a:latin typeface="Calibri"/>
              </a:rPr>
              <a:t>Bulk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16824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CAKE's four tins</a:t>
            </a:r>
          </a:p>
        </p:txBody>
      </p:sp>
      <p:sp>
        <p:nvSpPr>
          <p:cNvPr id="35" name="Freeform 34"/>
          <p:cNvSpPr/>
          <p:nvPr/>
        </p:nvSpPr>
        <p:spPr>
          <a:xfrm>
            <a:off x="5788152" y="2697480"/>
            <a:ext cx="3977640" cy="539496"/>
          </a:xfrm>
          <a:custGeom>
            <a:avLst/>
            <a:gdLst/>
            <a:ahLst/>
            <a:cxnLst/>
            <a:rect l="l" t="t" r="r" b="b"/>
            <a:pathLst>
              <a:path w="3977640" h="539496">
                <a:moveTo>
                  <a:pt x="0" y="0"/>
                </a:moveTo>
                <a:lnTo>
                  <a:pt x="104512" y="1225"/>
                </a:lnTo>
                <a:lnTo>
                  <a:pt x="203388" y="4810"/>
                </a:lnTo>
                <a:lnTo>
                  <a:pt x="296957" y="10615"/>
                </a:lnTo>
                <a:lnTo>
                  <a:pt x="385553" y="18501"/>
                </a:lnTo>
                <a:lnTo>
                  <a:pt x="469506" y="28330"/>
                </a:lnTo>
                <a:lnTo>
                  <a:pt x="549148" y="39962"/>
                </a:lnTo>
                <a:lnTo>
                  <a:pt x="624810" y="53260"/>
                </a:lnTo>
                <a:lnTo>
                  <a:pt x="696825" y="68084"/>
                </a:lnTo>
                <a:lnTo>
                  <a:pt x="765524" y="84296"/>
                </a:lnTo>
                <a:lnTo>
                  <a:pt x="831238" y="101756"/>
                </a:lnTo>
                <a:lnTo>
                  <a:pt x="894299" y="120327"/>
                </a:lnTo>
                <a:lnTo>
                  <a:pt x="955040" y="139869"/>
                </a:lnTo>
                <a:lnTo>
                  <a:pt x="1013790" y="160243"/>
                </a:lnTo>
                <a:lnTo>
                  <a:pt x="1070882" y="181312"/>
                </a:lnTo>
                <a:lnTo>
                  <a:pt x="1126648" y="202935"/>
                </a:lnTo>
                <a:lnTo>
                  <a:pt x="1181419" y="224975"/>
                </a:lnTo>
                <a:lnTo>
                  <a:pt x="1235527" y="247292"/>
                </a:lnTo>
                <a:lnTo>
                  <a:pt x="1289303" y="269748"/>
                </a:lnTo>
                <a:lnTo>
                  <a:pt x="1343080" y="292203"/>
                </a:lnTo>
                <a:lnTo>
                  <a:pt x="1397188" y="314520"/>
                </a:lnTo>
                <a:lnTo>
                  <a:pt x="1451959" y="336560"/>
                </a:lnTo>
                <a:lnTo>
                  <a:pt x="1507725" y="358183"/>
                </a:lnTo>
                <a:lnTo>
                  <a:pt x="1564817" y="379252"/>
                </a:lnTo>
                <a:lnTo>
                  <a:pt x="1623567" y="399626"/>
                </a:lnTo>
                <a:lnTo>
                  <a:pt x="1684308" y="419168"/>
                </a:lnTo>
                <a:lnTo>
                  <a:pt x="1747369" y="437739"/>
                </a:lnTo>
                <a:lnTo>
                  <a:pt x="1813083" y="455199"/>
                </a:lnTo>
                <a:lnTo>
                  <a:pt x="1881782" y="471411"/>
                </a:lnTo>
                <a:lnTo>
                  <a:pt x="1953797" y="486235"/>
                </a:lnTo>
                <a:lnTo>
                  <a:pt x="2029460" y="499533"/>
                </a:lnTo>
                <a:lnTo>
                  <a:pt x="2109101" y="511165"/>
                </a:lnTo>
                <a:lnTo>
                  <a:pt x="2193054" y="520994"/>
                </a:lnTo>
                <a:lnTo>
                  <a:pt x="2281650" y="528880"/>
                </a:lnTo>
                <a:lnTo>
                  <a:pt x="2375219" y="534685"/>
                </a:lnTo>
                <a:lnTo>
                  <a:pt x="2474095" y="538270"/>
                </a:lnTo>
                <a:lnTo>
                  <a:pt x="2578608" y="539496"/>
                </a:lnTo>
                <a:lnTo>
                  <a:pt x="3977640" y="539496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5788152" y="2706624"/>
            <a:ext cx="3977640" cy="548640"/>
          </a:xfrm>
          <a:custGeom>
            <a:avLst/>
            <a:gdLst/>
            <a:ahLst/>
            <a:cxnLst/>
            <a:rect l="l" t="t" r="r" b="b"/>
            <a:pathLst>
              <a:path w="3977640" h="548640">
                <a:moveTo>
                  <a:pt x="0" y="0"/>
                </a:moveTo>
                <a:lnTo>
                  <a:pt x="104512" y="1246"/>
                </a:lnTo>
                <a:lnTo>
                  <a:pt x="203388" y="4891"/>
                </a:lnTo>
                <a:lnTo>
                  <a:pt x="296957" y="10794"/>
                </a:lnTo>
                <a:lnTo>
                  <a:pt x="385553" y="18814"/>
                </a:lnTo>
                <a:lnTo>
                  <a:pt x="469506" y="28810"/>
                </a:lnTo>
                <a:lnTo>
                  <a:pt x="549148" y="40640"/>
                </a:lnTo>
                <a:lnTo>
                  <a:pt x="624810" y="54163"/>
                </a:lnTo>
                <a:lnTo>
                  <a:pt x="696825" y="69238"/>
                </a:lnTo>
                <a:lnTo>
                  <a:pt x="765524" y="85725"/>
                </a:lnTo>
                <a:lnTo>
                  <a:pt x="831238" y="103481"/>
                </a:lnTo>
                <a:lnTo>
                  <a:pt x="894299" y="122366"/>
                </a:lnTo>
                <a:lnTo>
                  <a:pt x="955040" y="142240"/>
                </a:lnTo>
                <a:lnTo>
                  <a:pt x="1013790" y="162959"/>
                </a:lnTo>
                <a:lnTo>
                  <a:pt x="1070882" y="184385"/>
                </a:lnTo>
                <a:lnTo>
                  <a:pt x="1126648" y="206374"/>
                </a:lnTo>
                <a:lnTo>
                  <a:pt x="1181419" y="228788"/>
                </a:lnTo>
                <a:lnTo>
                  <a:pt x="1235527" y="251483"/>
                </a:lnTo>
                <a:lnTo>
                  <a:pt x="1289303" y="274320"/>
                </a:lnTo>
                <a:lnTo>
                  <a:pt x="1343080" y="297156"/>
                </a:lnTo>
                <a:lnTo>
                  <a:pt x="1397188" y="319851"/>
                </a:lnTo>
                <a:lnTo>
                  <a:pt x="1451959" y="342265"/>
                </a:lnTo>
                <a:lnTo>
                  <a:pt x="1507725" y="364254"/>
                </a:lnTo>
                <a:lnTo>
                  <a:pt x="1564817" y="385680"/>
                </a:lnTo>
                <a:lnTo>
                  <a:pt x="1623567" y="406399"/>
                </a:lnTo>
                <a:lnTo>
                  <a:pt x="1684308" y="426273"/>
                </a:lnTo>
                <a:lnTo>
                  <a:pt x="1747369" y="445158"/>
                </a:lnTo>
                <a:lnTo>
                  <a:pt x="1813083" y="462915"/>
                </a:lnTo>
                <a:lnTo>
                  <a:pt x="1881782" y="479401"/>
                </a:lnTo>
                <a:lnTo>
                  <a:pt x="1953797" y="494476"/>
                </a:lnTo>
                <a:lnTo>
                  <a:pt x="2029460" y="508000"/>
                </a:lnTo>
                <a:lnTo>
                  <a:pt x="2109101" y="519829"/>
                </a:lnTo>
                <a:lnTo>
                  <a:pt x="2193054" y="529825"/>
                </a:lnTo>
                <a:lnTo>
                  <a:pt x="2281650" y="537845"/>
                </a:lnTo>
                <a:lnTo>
                  <a:pt x="2375219" y="543748"/>
                </a:lnTo>
                <a:lnTo>
                  <a:pt x="2474095" y="547393"/>
                </a:lnTo>
                <a:lnTo>
                  <a:pt x="2578608" y="548640"/>
                </a:lnTo>
                <a:lnTo>
                  <a:pt x="3977640" y="54864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788152" y="2715768"/>
            <a:ext cx="3977640" cy="557784"/>
          </a:xfrm>
          <a:custGeom>
            <a:avLst/>
            <a:gdLst/>
            <a:ahLst/>
            <a:cxnLst/>
            <a:rect l="l" t="t" r="r" b="b"/>
            <a:pathLst>
              <a:path w="3977640" h="557784">
                <a:moveTo>
                  <a:pt x="0" y="0"/>
                </a:moveTo>
                <a:lnTo>
                  <a:pt x="104512" y="1267"/>
                </a:lnTo>
                <a:lnTo>
                  <a:pt x="203388" y="4973"/>
                </a:lnTo>
                <a:lnTo>
                  <a:pt x="296957" y="10974"/>
                </a:lnTo>
                <a:lnTo>
                  <a:pt x="385553" y="19128"/>
                </a:lnTo>
                <a:lnTo>
                  <a:pt x="469506" y="29290"/>
                </a:lnTo>
                <a:lnTo>
                  <a:pt x="549148" y="41317"/>
                </a:lnTo>
                <a:lnTo>
                  <a:pt x="624810" y="55065"/>
                </a:lnTo>
                <a:lnTo>
                  <a:pt x="696825" y="70392"/>
                </a:lnTo>
                <a:lnTo>
                  <a:pt x="765524" y="87153"/>
                </a:lnTo>
                <a:lnTo>
                  <a:pt x="831238" y="105206"/>
                </a:lnTo>
                <a:lnTo>
                  <a:pt x="894299" y="124406"/>
                </a:lnTo>
                <a:lnTo>
                  <a:pt x="955040" y="144610"/>
                </a:lnTo>
                <a:lnTo>
                  <a:pt x="1013790" y="165675"/>
                </a:lnTo>
                <a:lnTo>
                  <a:pt x="1070882" y="187458"/>
                </a:lnTo>
                <a:lnTo>
                  <a:pt x="1126648" y="209814"/>
                </a:lnTo>
                <a:lnTo>
                  <a:pt x="1181419" y="232601"/>
                </a:lnTo>
                <a:lnTo>
                  <a:pt x="1235527" y="255674"/>
                </a:lnTo>
                <a:lnTo>
                  <a:pt x="1289303" y="278892"/>
                </a:lnTo>
                <a:lnTo>
                  <a:pt x="1343080" y="302109"/>
                </a:lnTo>
                <a:lnTo>
                  <a:pt x="1397188" y="325182"/>
                </a:lnTo>
                <a:lnTo>
                  <a:pt x="1451959" y="347969"/>
                </a:lnTo>
                <a:lnTo>
                  <a:pt x="1507725" y="370325"/>
                </a:lnTo>
                <a:lnTo>
                  <a:pt x="1564817" y="392108"/>
                </a:lnTo>
                <a:lnTo>
                  <a:pt x="1623567" y="413173"/>
                </a:lnTo>
                <a:lnTo>
                  <a:pt x="1684308" y="433377"/>
                </a:lnTo>
                <a:lnTo>
                  <a:pt x="1747369" y="452577"/>
                </a:lnTo>
                <a:lnTo>
                  <a:pt x="1813083" y="470630"/>
                </a:lnTo>
                <a:lnTo>
                  <a:pt x="1881782" y="487391"/>
                </a:lnTo>
                <a:lnTo>
                  <a:pt x="1953797" y="502718"/>
                </a:lnTo>
                <a:lnTo>
                  <a:pt x="2029460" y="516466"/>
                </a:lnTo>
                <a:lnTo>
                  <a:pt x="2109101" y="528493"/>
                </a:lnTo>
                <a:lnTo>
                  <a:pt x="2193054" y="538655"/>
                </a:lnTo>
                <a:lnTo>
                  <a:pt x="2281650" y="546809"/>
                </a:lnTo>
                <a:lnTo>
                  <a:pt x="2375219" y="552810"/>
                </a:lnTo>
                <a:lnTo>
                  <a:pt x="2474095" y="556516"/>
                </a:lnTo>
                <a:lnTo>
                  <a:pt x="2578608" y="557784"/>
                </a:lnTo>
                <a:lnTo>
                  <a:pt x="3977640" y="557784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788152" y="2724912"/>
            <a:ext cx="3977640" cy="566928"/>
          </a:xfrm>
          <a:custGeom>
            <a:avLst/>
            <a:gdLst/>
            <a:ahLst/>
            <a:cxnLst/>
            <a:rect l="l" t="t" r="r" b="b"/>
            <a:pathLst>
              <a:path w="3977640" h="566928">
                <a:moveTo>
                  <a:pt x="0" y="0"/>
                </a:moveTo>
                <a:lnTo>
                  <a:pt x="104512" y="1288"/>
                </a:lnTo>
                <a:lnTo>
                  <a:pt x="203388" y="5054"/>
                </a:lnTo>
                <a:lnTo>
                  <a:pt x="296957" y="11154"/>
                </a:lnTo>
                <a:lnTo>
                  <a:pt x="385553" y="19441"/>
                </a:lnTo>
                <a:lnTo>
                  <a:pt x="469506" y="29770"/>
                </a:lnTo>
                <a:lnTo>
                  <a:pt x="549148" y="41994"/>
                </a:lnTo>
                <a:lnTo>
                  <a:pt x="624810" y="55968"/>
                </a:lnTo>
                <a:lnTo>
                  <a:pt x="696825" y="71546"/>
                </a:lnTo>
                <a:lnTo>
                  <a:pt x="765524" y="88582"/>
                </a:lnTo>
                <a:lnTo>
                  <a:pt x="831238" y="106930"/>
                </a:lnTo>
                <a:lnTo>
                  <a:pt x="894299" y="126445"/>
                </a:lnTo>
                <a:lnTo>
                  <a:pt x="955040" y="146981"/>
                </a:lnTo>
                <a:lnTo>
                  <a:pt x="1013790" y="168391"/>
                </a:lnTo>
                <a:lnTo>
                  <a:pt x="1070882" y="190531"/>
                </a:lnTo>
                <a:lnTo>
                  <a:pt x="1126648" y="213254"/>
                </a:lnTo>
                <a:lnTo>
                  <a:pt x="1181419" y="236414"/>
                </a:lnTo>
                <a:lnTo>
                  <a:pt x="1235527" y="259866"/>
                </a:lnTo>
                <a:lnTo>
                  <a:pt x="1289303" y="283464"/>
                </a:lnTo>
                <a:lnTo>
                  <a:pt x="1343080" y="307061"/>
                </a:lnTo>
                <a:lnTo>
                  <a:pt x="1397188" y="330513"/>
                </a:lnTo>
                <a:lnTo>
                  <a:pt x="1451959" y="353673"/>
                </a:lnTo>
                <a:lnTo>
                  <a:pt x="1507725" y="376396"/>
                </a:lnTo>
                <a:lnTo>
                  <a:pt x="1564817" y="398536"/>
                </a:lnTo>
                <a:lnTo>
                  <a:pt x="1623567" y="419946"/>
                </a:lnTo>
                <a:lnTo>
                  <a:pt x="1684308" y="440482"/>
                </a:lnTo>
                <a:lnTo>
                  <a:pt x="1747369" y="459997"/>
                </a:lnTo>
                <a:lnTo>
                  <a:pt x="1813083" y="478345"/>
                </a:lnTo>
                <a:lnTo>
                  <a:pt x="1881782" y="495381"/>
                </a:lnTo>
                <a:lnTo>
                  <a:pt x="1953797" y="510959"/>
                </a:lnTo>
                <a:lnTo>
                  <a:pt x="2029460" y="524933"/>
                </a:lnTo>
                <a:lnTo>
                  <a:pt x="2109101" y="537157"/>
                </a:lnTo>
                <a:lnTo>
                  <a:pt x="2193054" y="547486"/>
                </a:lnTo>
                <a:lnTo>
                  <a:pt x="2281650" y="555773"/>
                </a:lnTo>
                <a:lnTo>
                  <a:pt x="2375219" y="561873"/>
                </a:lnTo>
                <a:lnTo>
                  <a:pt x="2474095" y="565639"/>
                </a:lnTo>
                <a:lnTo>
                  <a:pt x="2578608" y="566928"/>
                </a:lnTo>
                <a:lnTo>
                  <a:pt x="3977640" y="566928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788152" y="2734056"/>
            <a:ext cx="3977640" cy="576072"/>
          </a:xfrm>
          <a:custGeom>
            <a:avLst/>
            <a:gdLst/>
            <a:ahLst/>
            <a:cxnLst/>
            <a:rect l="l" t="t" r="r" b="b"/>
            <a:pathLst>
              <a:path w="3977640" h="576072">
                <a:moveTo>
                  <a:pt x="0" y="0"/>
                </a:moveTo>
                <a:lnTo>
                  <a:pt x="104512" y="1308"/>
                </a:lnTo>
                <a:lnTo>
                  <a:pt x="203388" y="5136"/>
                </a:lnTo>
                <a:lnTo>
                  <a:pt x="296957" y="11334"/>
                </a:lnTo>
                <a:lnTo>
                  <a:pt x="385553" y="19755"/>
                </a:lnTo>
                <a:lnTo>
                  <a:pt x="469506" y="30250"/>
                </a:lnTo>
                <a:lnTo>
                  <a:pt x="549148" y="42672"/>
                </a:lnTo>
                <a:lnTo>
                  <a:pt x="624810" y="56871"/>
                </a:lnTo>
                <a:lnTo>
                  <a:pt x="696825" y="72700"/>
                </a:lnTo>
                <a:lnTo>
                  <a:pt x="765524" y="90011"/>
                </a:lnTo>
                <a:lnTo>
                  <a:pt x="831238" y="108655"/>
                </a:lnTo>
                <a:lnTo>
                  <a:pt x="894299" y="128485"/>
                </a:lnTo>
                <a:lnTo>
                  <a:pt x="955040" y="149352"/>
                </a:lnTo>
                <a:lnTo>
                  <a:pt x="1013790" y="171107"/>
                </a:lnTo>
                <a:lnTo>
                  <a:pt x="1070882" y="193604"/>
                </a:lnTo>
                <a:lnTo>
                  <a:pt x="1126648" y="216693"/>
                </a:lnTo>
                <a:lnTo>
                  <a:pt x="1181419" y="240227"/>
                </a:lnTo>
                <a:lnTo>
                  <a:pt x="1235527" y="264057"/>
                </a:lnTo>
                <a:lnTo>
                  <a:pt x="1289303" y="288036"/>
                </a:lnTo>
                <a:lnTo>
                  <a:pt x="1343080" y="312014"/>
                </a:lnTo>
                <a:lnTo>
                  <a:pt x="1397188" y="335844"/>
                </a:lnTo>
                <a:lnTo>
                  <a:pt x="1451959" y="359378"/>
                </a:lnTo>
                <a:lnTo>
                  <a:pt x="1507725" y="382467"/>
                </a:lnTo>
                <a:lnTo>
                  <a:pt x="1564817" y="404964"/>
                </a:lnTo>
                <a:lnTo>
                  <a:pt x="1623567" y="426719"/>
                </a:lnTo>
                <a:lnTo>
                  <a:pt x="1684308" y="447586"/>
                </a:lnTo>
                <a:lnTo>
                  <a:pt x="1747369" y="467416"/>
                </a:lnTo>
                <a:lnTo>
                  <a:pt x="1813083" y="486060"/>
                </a:lnTo>
                <a:lnTo>
                  <a:pt x="1881782" y="503371"/>
                </a:lnTo>
                <a:lnTo>
                  <a:pt x="1953797" y="519200"/>
                </a:lnTo>
                <a:lnTo>
                  <a:pt x="2029460" y="533400"/>
                </a:lnTo>
                <a:lnTo>
                  <a:pt x="2109101" y="545821"/>
                </a:lnTo>
                <a:lnTo>
                  <a:pt x="2193054" y="556316"/>
                </a:lnTo>
                <a:lnTo>
                  <a:pt x="2281650" y="564737"/>
                </a:lnTo>
                <a:lnTo>
                  <a:pt x="2375219" y="570935"/>
                </a:lnTo>
                <a:lnTo>
                  <a:pt x="2474095" y="574763"/>
                </a:lnTo>
                <a:lnTo>
                  <a:pt x="2578608" y="576072"/>
                </a:lnTo>
                <a:lnTo>
                  <a:pt x="3977640" y="576072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788152" y="2743200"/>
            <a:ext cx="3977640" cy="585216"/>
          </a:xfrm>
          <a:custGeom>
            <a:avLst/>
            <a:gdLst/>
            <a:ahLst/>
            <a:cxnLst/>
            <a:rect l="l" t="t" r="r" b="b"/>
            <a:pathLst>
              <a:path w="3977640" h="585216">
                <a:moveTo>
                  <a:pt x="0" y="0"/>
                </a:moveTo>
                <a:lnTo>
                  <a:pt x="104512" y="1329"/>
                </a:lnTo>
                <a:lnTo>
                  <a:pt x="203388" y="5217"/>
                </a:lnTo>
                <a:lnTo>
                  <a:pt x="296957" y="11514"/>
                </a:lnTo>
                <a:lnTo>
                  <a:pt x="385553" y="20069"/>
                </a:lnTo>
                <a:lnTo>
                  <a:pt x="469506" y="30730"/>
                </a:lnTo>
                <a:lnTo>
                  <a:pt x="549148" y="43349"/>
                </a:lnTo>
                <a:lnTo>
                  <a:pt x="624810" y="57774"/>
                </a:lnTo>
                <a:lnTo>
                  <a:pt x="696825" y="73854"/>
                </a:lnTo>
                <a:lnTo>
                  <a:pt x="765524" y="91439"/>
                </a:lnTo>
                <a:lnTo>
                  <a:pt x="831238" y="110380"/>
                </a:lnTo>
                <a:lnTo>
                  <a:pt x="894299" y="130524"/>
                </a:lnTo>
                <a:lnTo>
                  <a:pt x="955040" y="151722"/>
                </a:lnTo>
                <a:lnTo>
                  <a:pt x="1013790" y="173823"/>
                </a:lnTo>
                <a:lnTo>
                  <a:pt x="1070882" y="196677"/>
                </a:lnTo>
                <a:lnTo>
                  <a:pt x="1126648" y="220133"/>
                </a:lnTo>
                <a:lnTo>
                  <a:pt x="1181419" y="244040"/>
                </a:lnTo>
                <a:lnTo>
                  <a:pt x="1235527" y="268249"/>
                </a:lnTo>
                <a:lnTo>
                  <a:pt x="1289303" y="292608"/>
                </a:lnTo>
                <a:lnTo>
                  <a:pt x="1343080" y="316966"/>
                </a:lnTo>
                <a:lnTo>
                  <a:pt x="1397188" y="341175"/>
                </a:lnTo>
                <a:lnTo>
                  <a:pt x="1451959" y="365082"/>
                </a:lnTo>
                <a:lnTo>
                  <a:pt x="1507725" y="388538"/>
                </a:lnTo>
                <a:lnTo>
                  <a:pt x="1564817" y="411392"/>
                </a:lnTo>
                <a:lnTo>
                  <a:pt x="1623567" y="433493"/>
                </a:lnTo>
                <a:lnTo>
                  <a:pt x="1684308" y="454691"/>
                </a:lnTo>
                <a:lnTo>
                  <a:pt x="1747369" y="474835"/>
                </a:lnTo>
                <a:lnTo>
                  <a:pt x="1813083" y="493776"/>
                </a:lnTo>
                <a:lnTo>
                  <a:pt x="1881782" y="511361"/>
                </a:lnTo>
                <a:lnTo>
                  <a:pt x="1953797" y="527441"/>
                </a:lnTo>
                <a:lnTo>
                  <a:pt x="2029460" y="541866"/>
                </a:lnTo>
                <a:lnTo>
                  <a:pt x="2109101" y="554485"/>
                </a:lnTo>
                <a:lnTo>
                  <a:pt x="2193054" y="565146"/>
                </a:lnTo>
                <a:lnTo>
                  <a:pt x="2281650" y="573701"/>
                </a:lnTo>
                <a:lnTo>
                  <a:pt x="2375219" y="579998"/>
                </a:lnTo>
                <a:lnTo>
                  <a:pt x="2474095" y="583886"/>
                </a:lnTo>
                <a:lnTo>
                  <a:pt x="2578608" y="585216"/>
                </a:lnTo>
                <a:lnTo>
                  <a:pt x="3977640" y="585216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788152" y="2752344"/>
            <a:ext cx="3977640" cy="594360"/>
          </a:xfrm>
          <a:custGeom>
            <a:avLst/>
            <a:gdLst/>
            <a:ahLst/>
            <a:cxnLst/>
            <a:rect l="l" t="t" r="r" b="b"/>
            <a:pathLst>
              <a:path w="3977640" h="594360">
                <a:moveTo>
                  <a:pt x="0" y="0"/>
                </a:moveTo>
                <a:lnTo>
                  <a:pt x="104512" y="1350"/>
                </a:lnTo>
                <a:lnTo>
                  <a:pt x="203388" y="5299"/>
                </a:lnTo>
                <a:lnTo>
                  <a:pt x="296957" y="11694"/>
                </a:lnTo>
                <a:lnTo>
                  <a:pt x="385553" y="20382"/>
                </a:lnTo>
                <a:lnTo>
                  <a:pt x="469506" y="31211"/>
                </a:lnTo>
                <a:lnTo>
                  <a:pt x="549148" y="44026"/>
                </a:lnTo>
                <a:lnTo>
                  <a:pt x="624810" y="58676"/>
                </a:lnTo>
                <a:lnTo>
                  <a:pt x="696825" y="75008"/>
                </a:lnTo>
                <a:lnTo>
                  <a:pt x="765524" y="92868"/>
                </a:lnTo>
                <a:lnTo>
                  <a:pt x="831238" y="112104"/>
                </a:lnTo>
                <a:lnTo>
                  <a:pt x="894299" y="132564"/>
                </a:lnTo>
                <a:lnTo>
                  <a:pt x="955040" y="154093"/>
                </a:lnTo>
                <a:lnTo>
                  <a:pt x="1013790" y="176539"/>
                </a:lnTo>
                <a:lnTo>
                  <a:pt x="1070882" y="199750"/>
                </a:lnTo>
                <a:lnTo>
                  <a:pt x="1126648" y="223572"/>
                </a:lnTo>
                <a:lnTo>
                  <a:pt x="1181419" y="247853"/>
                </a:lnTo>
                <a:lnTo>
                  <a:pt x="1235527" y="272440"/>
                </a:lnTo>
                <a:lnTo>
                  <a:pt x="1289303" y="297180"/>
                </a:lnTo>
                <a:lnTo>
                  <a:pt x="1343080" y="321919"/>
                </a:lnTo>
                <a:lnTo>
                  <a:pt x="1397188" y="346506"/>
                </a:lnTo>
                <a:lnTo>
                  <a:pt x="1451959" y="370787"/>
                </a:lnTo>
                <a:lnTo>
                  <a:pt x="1507725" y="394609"/>
                </a:lnTo>
                <a:lnTo>
                  <a:pt x="1564817" y="417820"/>
                </a:lnTo>
                <a:lnTo>
                  <a:pt x="1623567" y="440266"/>
                </a:lnTo>
                <a:lnTo>
                  <a:pt x="1684308" y="461795"/>
                </a:lnTo>
                <a:lnTo>
                  <a:pt x="1747369" y="482255"/>
                </a:lnTo>
                <a:lnTo>
                  <a:pt x="1813083" y="501491"/>
                </a:lnTo>
                <a:lnTo>
                  <a:pt x="1881782" y="519351"/>
                </a:lnTo>
                <a:lnTo>
                  <a:pt x="1953797" y="535683"/>
                </a:lnTo>
                <a:lnTo>
                  <a:pt x="2029460" y="550333"/>
                </a:lnTo>
                <a:lnTo>
                  <a:pt x="2109101" y="563148"/>
                </a:lnTo>
                <a:lnTo>
                  <a:pt x="2193054" y="573977"/>
                </a:lnTo>
                <a:lnTo>
                  <a:pt x="2281650" y="582665"/>
                </a:lnTo>
                <a:lnTo>
                  <a:pt x="2375219" y="589060"/>
                </a:lnTo>
                <a:lnTo>
                  <a:pt x="2474095" y="593009"/>
                </a:lnTo>
                <a:lnTo>
                  <a:pt x="2578608" y="594360"/>
                </a:lnTo>
                <a:lnTo>
                  <a:pt x="3977640" y="594360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788152" y="2761488"/>
            <a:ext cx="3977640" cy="603504"/>
          </a:xfrm>
          <a:custGeom>
            <a:avLst/>
            <a:gdLst/>
            <a:ahLst/>
            <a:cxnLst/>
            <a:rect l="l" t="t" r="r" b="b"/>
            <a:pathLst>
              <a:path w="3977640" h="603504">
                <a:moveTo>
                  <a:pt x="0" y="0"/>
                </a:moveTo>
                <a:lnTo>
                  <a:pt x="104512" y="1371"/>
                </a:lnTo>
                <a:lnTo>
                  <a:pt x="203388" y="5381"/>
                </a:lnTo>
                <a:lnTo>
                  <a:pt x="296957" y="11874"/>
                </a:lnTo>
                <a:lnTo>
                  <a:pt x="385553" y="20696"/>
                </a:lnTo>
                <a:lnTo>
                  <a:pt x="469506" y="31691"/>
                </a:lnTo>
                <a:lnTo>
                  <a:pt x="549148" y="44704"/>
                </a:lnTo>
                <a:lnTo>
                  <a:pt x="624810" y="59579"/>
                </a:lnTo>
                <a:lnTo>
                  <a:pt x="696825" y="76162"/>
                </a:lnTo>
                <a:lnTo>
                  <a:pt x="765524" y="94297"/>
                </a:lnTo>
                <a:lnTo>
                  <a:pt x="831238" y="113829"/>
                </a:lnTo>
                <a:lnTo>
                  <a:pt x="894299" y="134603"/>
                </a:lnTo>
                <a:lnTo>
                  <a:pt x="955040" y="156464"/>
                </a:lnTo>
                <a:lnTo>
                  <a:pt x="1013790" y="179255"/>
                </a:lnTo>
                <a:lnTo>
                  <a:pt x="1070882" y="202823"/>
                </a:lnTo>
                <a:lnTo>
                  <a:pt x="1126648" y="227012"/>
                </a:lnTo>
                <a:lnTo>
                  <a:pt x="1181419" y="251666"/>
                </a:lnTo>
                <a:lnTo>
                  <a:pt x="1235527" y="276631"/>
                </a:lnTo>
                <a:lnTo>
                  <a:pt x="1289303" y="301752"/>
                </a:lnTo>
                <a:lnTo>
                  <a:pt x="1343080" y="326872"/>
                </a:lnTo>
                <a:lnTo>
                  <a:pt x="1397188" y="351837"/>
                </a:lnTo>
                <a:lnTo>
                  <a:pt x="1451959" y="376491"/>
                </a:lnTo>
                <a:lnTo>
                  <a:pt x="1507725" y="400680"/>
                </a:lnTo>
                <a:lnTo>
                  <a:pt x="1564817" y="424248"/>
                </a:lnTo>
                <a:lnTo>
                  <a:pt x="1623567" y="447039"/>
                </a:lnTo>
                <a:lnTo>
                  <a:pt x="1684308" y="468900"/>
                </a:lnTo>
                <a:lnTo>
                  <a:pt x="1747369" y="489674"/>
                </a:lnTo>
                <a:lnTo>
                  <a:pt x="1813083" y="509206"/>
                </a:lnTo>
                <a:lnTo>
                  <a:pt x="1881782" y="527341"/>
                </a:lnTo>
                <a:lnTo>
                  <a:pt x="1953797" y="543924"/>
                </a:lnTo>
                <a:lnTo>
                  <a:pt x="2029460" y="558800"/>
                </a:lnTo>
                <a:lnTo>
                  <a:pt x="2109101" y="571812"/>
                </a:lnTo>
                <a:lnTo>
                  <a:pt x="2193054" y="582807"/>
                </a:lnTo>
                <a:lnTo>
                  <a:pt x="2281650" y="591629"/>
                </a:lnTo>
                <a:lnTo>
                  <a:pt x="2375219" y="598122"/>
                </a:lnTo>
                <a:lnTo>
                  <a:pt x="2474095" y="602132"/>
                </a:lnTo>
                <a:lnTo>
                  <a:pt x="2578608" y="603504"/>
                </a:lnTo>
                <a:lnTo>
                  <a:pt x="3977640" y="603504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788152" y="2770632"/>
            <a:ext cx="3977640" cy="612648"/>
          </a:xfrm>
          <a:custGeom>
            <a:avLst/>
            <a:gdLst/>
            <a:ahLst/>
            <a:cxnLst/>
            <a:rect l="l" t="t" r="r" b="b"/>
            <a:pathLst>
              <a:path w="3977640" h="612648">
                <a:moveTo>
                  <a:pt x="0" y="0"/>
                </a:moveTo>
                <a:lnTo>
                  <a:pt x="104512" y="1391"/>
                </a:lnTo>
                <a:lnTo>
                  <a:pt x="203388" y="5462"/>
                </a:lnTo>
                <a:lnTo>
                  <a:pt x="296957" y="12054"/>
                </a:lnTo>
                <a:lnTo>
                  <a:pt x="385553" y="21009"/>
                </a:lnTo>
                <a:lnTo>
                  <a:pt x="469506" y="32171"/>
                </a:lnTo>
                <a:lnTo>
                  <a:pt x="549148" y="45381"/>
                </a:lnTo>
                <a:lnTo>
                  <a:pt x="624810" y="60482"/>
                </a:lnTo>
                <a:lnTo>
                  <a:pt x="696825" y="77316"/>
                </a:lnTo>
                <a:lnTo>
                  <a:pt x="765524" y="95726"/>
                </a:lnTo>
                <a:lnTo>
                  <a:pt x="831238" y="115554"/>
                </a:lnTo>
                <a:lnTo>
                  <a:pt x="894299" y="136642"/>
                </a:lnTo>
                <a:lnTo>
                  <a:pt x="955040" y="158834"/>
                </a:lnTo>
                <a:lnTo>
                  <a:pt x="1013790" y="181971"/>
                </a:lnTo>
                <a:lnTo>
                  <a:pt x="1070882" y="205896"/>
                </a:lnTo>
                <a:lnTo>
                  <a:pt x="1126648" y="230452"/>
                </a:lnTo>
                <a:lnTo>
                  <a:pt x="1181419" y="255480"/>
                </a:lnTo>
                <a:lnTo>
                  <a:pt x="1235527" y="280823"/>
                </a:lnTo>
                <a:lnTo>
                  <a:pt x="1289303" y="306324"/>
                </a:lnTo>
                <a:lnTo>
                  <a:pt x="1343080" y="331824"/>
                </a:lnTo>
                <a:lnTo>
                  <a:pt x="1397188" y="357167"/>
                </a:lnTo>
                <a:lnTo>
                  <a:pt x="1451959" y="382195"/>
                </a:lnTo>
                <a:lnTo>
                  <a:pt x="1507725" y="406751"/>
                </a:lnTo>
                <a:lnTo>
                  <a:pt x="1564817" y="430676"/>
                </a:lnTo>
                <a:lnTo>
                  <a:pt x="1623567" y="453813"/>
                </a:lnTo>
                <a:lnTo>
                  <a:pt x="1684308" y="476005"/>
                </a:lnTo>
                <a:lnTo>
                  <a:pt x="1747369" y="497093"/>
                </a:lnTo>
                <a:lnTo>
                  <a:pt x="1813083" y="516921"/>
                </a:lnTo>
                <a:lnTo>
                  <a:pt x="1881782" y="535331"/>
                </a:lnTo>
                <a:lnTo>
                  <a:pt x="1953797" y="552165"/>
                </a:lnTo>
                <a:lnTo>
                  <a:pt x="2029460" y="567266"/>
                </a:lnTo>
                <a:lnTo>
                  <a:pt x="2109101" y="580476"/>
                </a:lnTo>
                <a:lnTo>
                  <a:pt x="2193054" y="591638"/>
                </a:lnTo>
                <a:lnTo>
                  <a:pt x="2281650" y="600593"/>
                </a:lnTo>
                <a:lnTo>
                  <a:pt x="2375219" y="607185"/>
                </a:lnTo>
                <a:lnTo>
                  <a:pt x="2474095" y="611256"/>
                </a:lnTo>
                <a:lnTo>
                  <a:pt x="2578608" y="612648"/>
                </a:lnTo>
                <a:lnTo>
                  <a:pt x="3977640" y="612648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788152" y="2779776"/>
            <a:ext cx="3977640" cy="621792"/>
          </a:xfrm>
          <a:custGeom>
            <a:avLst/>
            <a:gdLst/>
            <a:ahLst/>
            <a:cxnLst/>
            <a:rect l="l" t="t" r="r" b="b"/>
            <a:pathLst>
              <a:path w="3977640" h="621792">
                <a:moveTo>
                  <a:pt x="0" y="0"/>
                </a:moveTo>
                <a:lnTo>
                  <a:pt x="104512" y="1412"/>
                </a:lnTo>
                <a:lnTo>
                  <a:pt x="203388" y="5544"/>
                </a:lnTo>
                <a:lnTo>
                  <a:pt x="296957" y="12234"/>
                </a:lnTo>
                <a:lnTo>
                  <a:pt x="385553" y="21323"/>
                </a:lnTo>
                <a:lnTo>
                  <a:pt x="469506" y="32651"/>
                </a:lnTo>
                <a:lnTo>
                  <a:pt x="549148" y="46058"/>
                </a:lnTo>
                <a:lnTo>
                  <a:pt x="624810" y="61384"/>
                </a:lnTo>
                <a:lnTo>
                  <a:pt x="696825" y="78470"/>
                </a:lnTo>
                <a:lnTo>
                  <a:pt x="765524" y="97155"/>
                </a:lnTo>
                <a:lnTo>
                  <a:pt x="831238" y="117279"/>
                </a:lnTo>
                <a:lnTo>
                  <a:pt x="894299" y="138682"/>
                </a:lnTo>
                <a:lnTo>
                  <a:pt x="955040" y="161205"/>
                </a:lnTo>
                <a:lnTo>
                  <a:pt x="1013790" y="184687"/>
                </a:lnTo>
                <a:lnTo>
                  <a:pt x="1070882" y="208969"/>
                </a:lnTo>
                <a:lnTo>
                  <a:pt x="1126648" y="233891"/>
                </a:lnTo>
                <a:lnTo>
                  <a:pt x="1181419" y="259293"/>
                </a:lnTo>
                <a:lnTo>
                  <a:pt x="1235527" y="285014"/>
                </a:lnTo>
                <a:lnTo>
                  <a:pt x="1289303" y="310896"/>
                </a:lnTo>
                <a:lnTo>
                  <a:pt x="1343080" y="336777"/>
                </a:lnTo>
                <a:lnTo>
                  <a:pt x="1397188" y="362498"/>
                </a:lnTo>
                <a:lnTo>
                  <a:pt x="1451959" y="387900"/>
                </a:lnTo>
                <a:lnTo>
                  <a:pt x="1507725" y="412822"/>
                </a:lnTo>
                <a:lnTo>
                  <a:pt x="1564817" y="437104"/>
                </a:lnTo>
                <a:lnTo>
                  <a:pt x="1623567" y="460586"/>
                </a:lnTo>
                <a:lnTo>
                  <a:pt x="1684308" y="483109"/>
                </a:lnTo>
                <a:lnTo>
                  <a:pt x="1747369" y="504512"/>
                </a:lnTo>
                <a:lnTo>
                  <a:pt x="1813083" y="524637"/>
                </a:lnTo>
                <a:lnTo>
                  <a:pt x="1881782" y="543321"/>
                </a:lnTo>
                <a:lnTo>
                  <a:pt x="1953797" y="560407"/>
                </a:lnTo>
                <a:lnTo>
                  <a:pt x="2029460" y="575733"/>
                </a:lnTo>
                <a:lnTo>
                  <a:pt x="2109101" y="589140"/>
                </a:lnTo>
                <a:lnTo>
                  <a:pt x="2193054" y="600468"/>
                </a:lnTo>
                <a:lnTo>
                  <a:pt x="2281650" y="609557"/>
                </a:lnTo>
                <a:lnTo>
                  <a:pt x="2375219" y="616247"/>
                </a:lnTo>
                <a:lnTo>
                  <a:pt x="2474095" y="620379"/>
                </a:lnTo>
                <a:lnTo>
                  <a:pt x="2578608" y="621792"/>
                </a:lnTo>
                <a:lnTo>
                  <a:pt x="3977640" y="621792"/>
                </a:lnTo>
              </a:path>
            </a:pathLst>
          </a:custGeom>
          <a:noFill/>
          <a:ln w="15875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788152" y="2514600"/>
            <a:ext cx="3977640" cy="228600"/>
          </a:xfrm>
          <a:custGeom>
            <a:avLst/>
            <a:gdLst/>
            <a:ahLst/>
            <a:cxnLst/>
            <a:rect l="l" t="t" r="r" b="b"/>
            <a:pathLst>
              <a:path w="3977640" h="228600">
                <a:moveTo>
                  <a:pt x="0" y="228600"/>
                </a:moveTo>
                <a:lnTo>
                  <a:pt x="104512" y="228080"/>
                </a:lnTo>
                <a:lnTo>
                  <a:pt x="203388" y="226561"/>
                </a:lnTo>
                <a:lnTo>
                  <a:pt x="296957" y="224102"/>
                </a:lnTo>
                <a:lnTo>
                  <a:pt x="385553" y="220760"/>
                </a:lnTo>
                <a:lnTo>
                  <a:pt x="469506" y="216595"/>
                </a:lnTo>
                <a:lnTo>
                  <a:pt x="549148" y="211666"/>
                </a:lnTo>
                <a:lnTo>
                  <a:pt x="624810" y="206032"/>
                </a:lnTo>
                <a:lnTo>
                  <a:pt x="696825" y="199750"/>
                </a:lnTo>
                <a:lnTo>
                  <a:pt x="765524" y="192881"/>
                </a:lnTo>
                <a:lnTo>
                  <a:pt x="831238" y="185482"/>
                </a:lnTo>
                <a:lnTo>
                  <a:pt x="894299" y="177613"/>
                </a:lnTo>
                <a:lnTo>
                  <a:pt x="955040" y="169333"/>
                </a:lnTo>
                <a:lnTo>
                  <a:pt x="1013790" y="160700"/>
                </a:lnTo>
                <a:lnTo>
                  <a:pt x="1070882" y="151772"/>
                </a:lnTo>
                <a:lnTo>
                  <a:pt x="1126648" y="142610"/>
                </a:lnTo>
                <a:lnTo>
                  <a:pt x="1181419" y="133271"/>
                </a:lnTo>
                <a:lnTo>
                  <a:pt x="1235527" y="123815"/>
                </a:lnTo>
                <a:lnTo>
                  <a:pt x="1289303" y="114300"/>
                </a:lnTo>
                <a:lnTo>
                  <a:pt x="1343080" y="104784"/>
                </a:lnTo>
                <a:lnTo>
                  <a:pt x="1397188" y="95328"/>
                </a:lnTo>
                <a:lnTo>
                  <a:pt x="1451959" y="85989"/>
                </a:lnTo>
                <a:lnTo>
                  <a:pt x="1507725" y="76827"/>
                </a:lnTo>
                <a:lnTo>
                  <a:pt x="1564817" y="67899"/>
                </a:lnTo>
                <a:lnTo>
                  <a:pt x="1623567" y="59266"/>
                </a:lnTo>
                <a:lnTo>
                  <a:pt x="1684308" y="50986"/>
                </a:lnTo>
                <a:lnTo>
                  <a:pt x="1747369" y="43117"/>
                </a:lnTo>
                <a:lnTo>
                  <a:pt x="1813083" y="35718"/>
                </a:lnTo>
                <a:lnTo>
                  <a:pt x="1881782" y="28849"/>
                </a:lnTo>
                <a:lnTo>
                  <a:pt x="1953797" y="22567"/>
                </a:lnTo>
                <a:lnTo>
                  <a:pt x="2029460" y="16933"/>
                </a:lnTo>
                <a:lnTo>
                  <a:pt x="2109101" y="12004"/>
                </a:lnTo>
                <a:lnTo>
                  <a:pt x="2193054" y="7839"/>
                </a:lnTo>
                <a:lnTo>
                  <a:pt x="2281650" y="4497"/>
                </a:lnTo>
                <a:lnTo>
                  <a:pt x="2375219" y="2038"/>
                </a:lnTo>
                <a:lnTo>
                  <a:pt x="2474095" y="519"/>
                </a:lnTo>
                <a:lnTo>
                  <a:pt x="2578608" y="0"/>
                </a:lnTo>
                <a:lnTo>
                  <a:pt x="3977640" y="0"/>
                </a:lnTo>
              </a:path>
            </a:pathLst>
          </a:custGeom>
          <a:noFill/>
          <a:ln w="381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235915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1">
                <a:solidFill>
                  <a:srgbClr val="6250D6"/>
                </a:solidFill>
                <a:latin typeface="Calibri"/>
              </a:rPr>
              <a:t>the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31638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>
                <a:solidFill>
                  <a:srgbClr val="56606E"/>
                </a:solidFill>
                <a:latin typeface="Calibri"/>
              </a:rPr>
              <a:t>file sharing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182880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>
                <a:solidFill>
                  <a:srgbClr val="14213D"/>
                </a:solidFill>
                <a:latin typeface="Calibri"/>
              </a:rPr>
              <a:t>Least harm</a:t>
            </a:r>
          </a:p>
          <a:p>
            <a:pPr algn="l"/>
            <a:r>
              <a:rPr sz="900" b="0">
                <a:solidFill>
                  <a:srgbClr val="56606E"/>
                </a:solidFill>
                <a:latin typeface="Calibri"/>
              </a:rPr>
              <a:t>lowest expected damage, then a safety shield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050791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6600" b="1">
                <a:solidFill>
                  <a:srgbClr val="6250D6"/>
                </a:solidFill>
                <a:latin typeface="Calibri"/>
              </a:rPr>
              <a:t>87%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928616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>
                <a:solidFill>
                  <a:srgbClr val="14213D"/>
                </a:solidFill>
                <a:latin typeface="Calibri"/>
              </a:rPr>
              <a:t>less damage than plain CAKE</a:t>
            </a:r>
          </a:p>
          <a:p>
            <a:pPr algn="l"/>
            <a:r>
              <a:rPr sz="900" b="0">
                <a:solidFill>
                  <a:srgbClr val="56606E"/>
                </a:solidFill>
                <a:latin typeface="Calibri"/>
              </a:rPr>
              <a:t>flows left unusable over 9 home scenarios, 5.58 down to 0.73</a:t>
            </a:r>
          </a:p>
        </p:txBody>
      </p:sp>
      <p:graphicFrame>
        <p:nvGraphicFramePr>
          <p:cNvPr id="51" name="Chart 50"/>
          <p:cNvGraphicFramePr>
            <a:graphicFrameLocks noGrp="1"/>
          </p:cNvGraphicFramePr>
          <p:nvPr/>
        </p:nvGraphicFramePr>
        <p:xfrm>
          <a:off x="2697480" y="4050791"/>
          <a:ext cx="3291840" cy="157276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6263640" y="411480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600" b="1">
                <a:solidFill>
                  <a:srgbClr val="2A78D6"/>
                </a:solidFill>
                <a:latin typeface="Calibri"/>
              </a:rPr>
              <a:t>94%</a:t>
            </a:r>
            <a:r>
              <a:rPr sz="3600" b="1">
                <a:solidFill>
                  <a:srgbClr val="8A929E"/>
                </a:solidFill>
                <a:latin typeface="Calibri"/>
              </a:rPr>
              <a:t> → </a:t>
            </a:r>
            <a:r>
              <a:rPr sz="3600" b="1">
                <a:solidFill>
                  <a:srgbClr val="6250D6"/>
                </a:solidFill>
                <a:latin typeface="Calibri"/>
              </a:rPr>
              <a:t>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764024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>
                <a:solidFill>
                  <a:srgbClr val="14213D"/>
                </a:solidFill>
                <a:latin typeface="Calibri"/>
              </a:rPr>
              <a:t>late frames on the HD call</a:t>
            </a:r>
          </a:p>
          <a:p>
            <a:pPr algn="l"/>
            <a:r>
              <a:rPr sz="900" b="0">
                <a:solidFill>
                  <a:srgbClr val="56606E"/>
                </a:solidFill>
                <a:latin typeface="Calibri"/>
              </a:rPr>
              <a:t>while its laptop shares files. Median of 6 seeds; the chart is one run, sharing starts at 30 s</a:t>
            </a:r>
          </a:p>
        </p:txBody>
      </p:sp>
      <p:graphicFrame>
        <p:nvGraphicFramePr>
          <p:cNvPr id="54" name="Chart 53"/>
          <p:cNvGraphicFramePr>
            <a:graphicFrameLocks noGrp="1"/>
          </p:cNvGraphicFramePr>
          <p:nvPr/>
        </p:nvGraphicFramePr>
        <p:xfrm>
          <a:off x="8366760" y="4050791"/>
          <a:ext cx="3383280" cy="148132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cxnSp>
        <p:nvCxnSpPr>
          <p:cNvPr id="55" name="Connector 54"/>
          <p:cNvCxnSpPr/>
          <p:nvPr/>
        </p:nvCxnSpPr>
        <p:spPr>
          <a:xfrm>
            <a:off x="3063240" y="5833872"/>
            <a:ext cx="5705856" cy="0"/>
          </a:xfrm>
          <a:prstGeom prst="line">
            <a:avLst/>
          </a:prstGeom>
          <a:ln w="19050">
            <a:solidFill>
              <a:srgbClr val="C9D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2944368" y="571500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79192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Call +</a:t>
            </a:r>
          </a:p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download</a:t>
            </a:r>
          </a:p>
        </p:txBody>
      </p:sp>
      <p:sp>
        <p:nvSpPr>
          <p:cNvPr id="58" name="Oval 57"/>
          <p:cNvSpPr/>
          <p:nvPr/>
        </p:nvSpPr>
        <p:spPr>
          <a:xfrm>
            <a:off x="3657600" y="5715000"/>
            <a:ext cx="237744" cy="237744"/>
          </a:xfrm>
          <a:prstGeom prst="ellipse">
            <a:avLst/>
          </a:prstGeom>
          <a:solidFill>
            <a:srgbClr val="6250D6"/>
          </a:solidFill>
          <a:ln w="1905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92424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Line</a:t>
            </a:r>
          </a:p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drops</a:t>
            </a:r>
          </a:p>
        </p:txBody>
      </p:sp>
      <p:sp>
        <p:nvSpPr>
          <p:cNvPr id="60" name="Oval 59"/>
          <p:cNvSpPr/>
          <p:nvPr/>
        </p:nvSpPr>
        <p:spPr>
          <a:xfrm>
            <a:off x="4370832" y="571500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5656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TVs +</a:t>
            </a:r>
          </a:p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console</a:t>
            </a:r>
          </a:p>
        </p:txBody>
      </p:sp>
      <p:sp>
        <p:nvSpPr>
          <p:cNvPr id="62" name="Oval 61"/>
          <p:cNvSpPr/>
          <p:nvPr/>
        </p:nvSpPr>
        <p:spPr>
          <a:xfrm>
            <a:off x="5084064" y="571500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18888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Game +</a:t>
            </a:r>
          </a:p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backup</a:t>
            </a:r>
          </a:p>
        </p:txBody>
      </p:sp>
      <p:sp>
        <p:nvSpPr>
          <p:cNvPr id="64" name="Oval 63"/>
          <p:cNvSpPr/>
          <p:nvPr/>
        </p:nvSpPr>
        <p:spPr>
          <a:xfrm>
            <a:off x="5797296" y="5715000"/>
            <a:ext cx="237744" cy="237744"/>
          </a:xfrm>
          <a:prstGeom prst="ellipse">
            <a:avLst/>
          </a:prstGeom>
          <a:solidFill>
            <a:srgbClr val="6250D6"/>
          </a:solidFill>
          <a:ln w="1905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32120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Busy</a:t>
            </a:r>
          </a:p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evening</a:t>
            </a:r>
          </a:p>
        </p:txBody>
      </p:sp>
      <p:sp>
        <p:nvSpPr>
          <p:cNvPr id="66" name="Oval 65"/>
          <p:cNvSpPr/>
          <p:nvPr/>
        </p:nvSpPr>
        <p:spPr>
          <a:xfrm>
            <a:off x="6510528" y="5715000"/>
            <a:ext cx="237744" cy="237744"/>
          </a:xfrm>
          <a:prstGeom prst="ellipse">
            <a:avLst/>
          </a:prstGeom>
          <a:solidFill>
            <a:srgbClr val="6250D6"/>
          </a:solidFill>
          <a:ln w="1905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45352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Call +</a:t>
            </a:r>
          </a:p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file sharing</a:t>
            </a:r>
          </a:p>
        </p:txBody>
      </p:sp>
      <p:sp>
        <p:nvSpPr>
          <p:cNvPr id="68" name="Oval 67"/>
          <p:cNvSpPr/>
          <p:nvPr/>
        </p:nvSpPr>
        <p:spPr>
          <a:xfrm>
            <a:off x="7223759" y="5715000"/>
            <a:ext cx="237744" cy="237744"/>
          </a:xfrm>
          <a:prstGeom prst="ellipse">
            <a:avLst/>
          </a:prstGeom>
          <a:solidFill>
            <a:srgbClr val="6250D6"/>
          </a:solidFill>
          <a:ln w="1905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58583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Game +</a:t>
            </a:r>
          </a:p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update</a:t>
            </a:r>
          </a:p>
        </p:txBody>
      </p:sp>
      <p:sp>
        <p:nvSpPr>
          <p:cNvPr id="70" name="Oval 69"/>
          <p:cNvSpPr/>
          <p:nvPr/>
        </p:nvSpPr>
        <p:spPr>
          <a:xfrm>
            <a:off x="7936992" y="5715000"/>
            <a:ext cx="237744" cy="237744"/>
          </a:xfrm>
          <a:prstGeom prst="ellipse">
            <a:avLst/>
          </a:prstGeom>
          <a:solidFill>
            <a:srgbClr val="6250D6"/>
          </a:solidFill>
          <a:ln w="1905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71816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Flows</a:t>
            </a:r>
          </a:p>
          <a:p>
            <a:pPr algn="ctr"/>
            <a:r>
              <a:rPr sz="900" b="1">
                <a:solidFill>
                  <a:srgbClr val="6250D6"/>
                </a:solidFill>
                <a:latin typeface="Calibri"/>
              </a:rPr>
              <a:t>change</a:t>
            </a:r>
          </a:p>
        </p:txBody>
      </p:sp>
      <p:sp>
        <p:nvSpPr>
          <p:cNvPr id="72" name="Oval 71"/>
          <p:cNvSpPr/>
          <p:nvPr/>
        </p:nvSpPr>
        <p:spPr>
          <a:xfrm>
            <a:off x="8650224" y="571500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85048" y="5980176"/>
            <a:ext cx="768096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Controller</a:t>
            </a:r>
          </a:p>
          <a:p>
            <a:pPr algn="ctr"/>
            <a:r>
              <a:rPr sz="900" b="0">
                <a:solidFill>
                  <a:srgbClr val="56606E"/>
                </a:solidFill>
                <a:latin typeface="Calibri"/>
              </a:rPr>
              <a:t>killed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5559552"/>
            <a:ext cx="242316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>
                <a:solidFill>
                  <a:srgbClr val="6250D6"/>
                </a:solidFill>
                <a:latin typeface="Calibri"/>
              </a:rPr>
              <a:t>Wins </a:t>
            </a:r>
            <a:r>
              <a:rPr sz="950" b="0">
                <a:solidFill>
                  <a:srgbClr val="14213D"/>
                </a:solidFill>
                <a:latin typeface="Calibri"/>
              </a:rPr>
              <a:t>where a call or game shares its device with bulk traffic or the line speed changes. </a:t>
            </a:r>
            <a:r>
              <a:rPr sz="950" b="1">
                <a:solidFill>
                  <a:srgbClr val="56606E"/>
                </a:solidFill>
                <a:latin typeface="Calibri"/>
              </a:rPr>
              <a:t>Ties </a:t>
            </a:r>
            <a:r>
              <a:rPr sz="950" b="0">
                <a:solidFill>
                  <a:srgbClr val="14213D"/>
                </a:solidFill>
                <a:latin typeface="Calibri"/>
              </a:rPr>
              <a:t>where plain CAKE already copes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09760" y="5541264"/>
            <a:ext cx="2240280" cy="7680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>
                <a:solidFill>
                  <a:srgbClr val="6250D6"/>
                </a:solidFill>
                <a:latin typeface="Calibri"/>
              </a:rPr>
              <a:t>53 of 54</a:t>
            </a:r>
          </a:p>
          <a:p>
            <a:pPr algn="l"/>
            <a:r>
              <a:rPr sz="950" b="0">
                <a:solidFill>
                  <a:srgbClr val="14213D"/>
                </a:solidFill>
                <a:latin typeface="Calibri"/>
              </a:rPr>
              <a:t>runs equal or better than plain CAKE. </a:t>
            </a:r>
            <a:r>
              <a:rPr sz="950" b="1">
                <a:solidFill>
                  <a:srgbClr val="14213D"/>
                </a:solidFill>
                <a:latin typeface="Calibri"/>
              </a:rPr>
              <a:t>0 worse than threshold rules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336792"/>
            <a:ext cx="9052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>
                <a:solidFill>
                  <a:srgbClr val="14213D"/>
                </a:solidFill>
                <a:latin typeface="Calibri"/>
              </a:rPr>
              <a:t>Line drop 100 to 20 Mbit/s caught in 353 ms</a:t>
            </a:r>
            <a:r>
              <a:rPr sz="950" b="0">
                <a:solidFill>
                  <a:srgbClr val="8A929E"/>
                </a:solidFill>
                <a:latin typeface="Calibri"/>
              </a:rPr>
              <a:t>   ·   </a:t>
            </a:r>
            <a:r>
              <a:rPr sz="950" b="0">
                <a:solidFill>
                  <a:srgbClr val="14213D"/>
                </a:solidFill>
                <a:latin typeface="Calibri"/>
              </a:rPr>
              <a:t>Watchdog back to plain CAKE in 2.02 s (limit 3 s)</a:t>
            </a:r>
            <a:r>
              <a:rPr sz="950" b="0">
                <a:solidFill>
                  <a:srgbClr val="8A929E"/>
                </a:solidFill>
                <a:latin typeface="Calibri"/>
              </a:rPr>
              <a:t>   ·   </a:t>
            </a:r>
            <a:r>
              <a:rPr sz="950" b="0">
                <a:solidFill>
                  <a:srgbClr val="14213D"/>
                </a:solidFill>
                <a:latin typeface="Calibri"/>
              </a:rPr>
              <a:t>QoE check rolls back bad changes</a:t>
            </a:r>
            <a:r>
              <a:rPr sz="950" b="0">
                <a:solidFill>
                  <a:srgbClr val="8A929E"/>
                </a:solidFill>
                <a:latin typeface="Calibri"/>
              </a:rPr>
              <a:t>   ·   </a:t>
            </a:r>
            <a:r>
              <a:rPr sz="950" b="0">
                <a:solidFill>
                  <a:srgbClr val="14213D"/>
                </a:solidFill>
                <a:latin typeface="Calibri"/>
              </a:rPr>
              <a:t>214 unit tests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37960"/>
            <a:ext cx="9052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>
                <a:solidFill>
                  <a:srgbClr val="56606E"/>
                </a:solidFill>
                <a:latin typeface="Calibri"/>
              </a:rPr>
              <a:t>Interim: 6 of 10 seeds. 270 of 270 runs valid in an emulated home testbed on Linux CAKE; rootless, one command to reproduce; not yet on router hardware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0" y="6199632"/>
            <a:ext cx="566928" cy="56692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418320" y="6217920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1">
                <a:solidFill>
                  <a:srgbClr val="14213D"/>
                </a:solidFill>
                <a:latin typeface="Calibri"/>
              </a:rPr>
              <a:t>How it works, in full</a:t>
            </a:r>
          </a:p>
          <a:p>
            <a:pPr algn="r"/>
            <a:r>
              <a:rPr sz="1000" b="0">
                <a:solidFill>
                  <a:srgbClr val="6250D6"/>
                </a:solidFill>
                <a:latin typeface="Calibri"/>
              </a:rPr>
              <a:t>LINK_TBD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